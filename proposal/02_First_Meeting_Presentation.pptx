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thanking them and stating the purpose: we read the brief carefully; today we present our plan, are candid about the decisions they will need to make, and agree the next step. Say clearly that this is the first-level meeting: plan and approach. The detailed design, security deep-dive and final commercials come in the second session. Aim to finish in 45 minutes and leave 15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agenda in 30 seconds. Signal that section 3 (data and residency) is where you will be most candid, because it is the section where GCC clients most often get vague answers from vendors.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requirements back in the client's own words. Then ask: have we understood this correctly? Listen for anything new, for example additional document types, other user groups, or Arabic. Note it visibly. Do not move on until they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we took the human-approval requirement as a hard design constraint, not a feature toggle: there is no automated sending path in the system. Confirm the three categories and ask what is specific about their GCC pipeline (intermediaries, majlis meetings, regulatory steps), which we will configure rather than hard-code.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memorise. Say the one-liner, then the three principles as phrases: evidence first; human in control; yours from day one. Give the two dates and the pilot run-cost range. Do not go into build fees here; that comes on slide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top to bottom. Users log in once. The shared platform layer is built once and gives both systems the same identity, the same list of organisations and people, one document store, one AI gateway (this is the anti-lock-in point), workflow, an immutable audit log, and monitoring. System 1 and System 2 each stand alone. The gold arrow is the connection: the same investor appears in a contract and in the pipeline, so findings from documents can appear on the relationship page. The bottom row is how real data arrives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flows. Ingestion happens once per document: scan, classify, parse including OCR for scans in Arabic and English, chunk with page references, index, and extract claims. Answering happens per question: apply the user's permissions first, retrieve by keyword and by meaning, re-rank, draft an answer with citations, then the gold box: an independent grounding check that removes any sentence the sources do not support. If nothing survives, the assistant says the documents do not contain the answer. Everything is logged. Phrase: 'it shows its work, and a second check marks its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differentiator. Walk the example: the contract says AED 12.5m, the board memo says 11.8m, the financial model says 12.5m. Each becomes a row: entity, attribute, value, unit, page, exact quote. Comparing rows about the same entity and attribute finds the conflict, and the flag shows both quotes. Decision checklists (bottom) are configured once per decision type; the system marks evidence as present, missing or contradicted. Mention version handling: a superseded draft is not reported as a contradiction of the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chevrons as an example, not a prescription. Ask them what their real stages are; that becomes configuration in discovery. Point out the three category cards and that fields differ per category. Emphasise: reminders go to their staff, never to the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trigger, draft (human or AI-assisted from the relationship history), review queue with risk flags, decision by a named approver who is not the drafter, send through the client's own mailbox under the approver's authority, and record. The red box is the guarantee: no auto-send, no AI sending on its own, no bulk blasts without per-message approval. If asked whether staff can bypass it: not through the system; sending requires an approval record from a different user, enforced in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here. Data at rest: your cloud account, a GCC region (AWS UAE or Bahrain, Azure UAE North, Google Cloud Dammam), or on premises. Data in processing: with Pattern A, only the passages needed for a question go to the model, encrypted, under enterprise terms that prohibit training. As of early 2026, Claude on AWS in the Middle East regions uses cross-region inference, so processing may transit outside the region; a fully in-country frontier endpoint was not confirmed and we will re-verify at discovery. Pattern B routes restricted and personal-data documents to an in-region model. Pattern C runs everything in country on open-weight models at higher cost. Recommendation: start on A for the demo, design for B, keep C as the upgrade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all six. Pick the two the audience cares about: for a CISO, access-before-retrieval and the audit chain; for legal, compliance by design. Avoid the phrase 'certified compliant'; say 'designed to support compliance, your legal team confirms the lawful basis and we implement and evidence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their explicit question about plugging in real data later. The strongest line: demo data is flagged and removed with one action; configuration stays. Mention that the data model exports cleanly to Salesforce or HubSpot if they ever want that, so there is no lock-in to us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three dates. Explain why discovery is not compressible: residency and identity decisions are expensive to change later, and the golden question set built in discovery is how they will hold us to accuracy targets. Offer the week-4 prototype if they want an early look. Note dependencies on them: sample documents by end of week 1, identity provider access by week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tiers as run cost, separate from build fees. Tier 0 pilot: managed cloud services and a frontier model via API, hundreds of dollars a month. Tier 1 departmental: single sign-on, backups, monitoring, connectors, low thousands. Tier 2 enterprise or sovereign: in-region GPUs and self-hosted models, high availability, compliance evidence, tens of thousands. Tier 3 group scale: multi-entity tenancy, dedicated GPU capacity, 24/7 operations, ERP and board-portal integration, six figures a month. The point: they start small and the architecture does not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structure, not a single number. If pressed for a figure, give the pilot run-cost range and say build fees follow discovery and are shown transparently in the workbook (role effort times an agreed rate). Stress the ownership box: this is the answer to 'what if you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right-hand column as 'decisions that make the project succeed', not as criticism of the brief. Each has a recommended default in our gaps document. Ask directly for the left-hand items, especially the sample documents and the sponsor.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explicitly for the three outcomes: NDA and sample documents, named sponsor and product owner, and a date for the detailed session. Confirm the date before leaving the room. Send the follow-up note within 24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1097280"/>
            <a:ext cx="7863840" cy="365760"/>
          </a:xfrm>
          <a:prstGeom prst="rect">
            <a:avLst/>
          </a:prstGeom>
          <a:noFill/>
          <a:ln/>
        </p:spPr>
        <p:txBody>
          <a:bodyPr wrap="square" lIns="0" tIns="0" rIns="0" bIns="0" rtlCol="0" anchor="ctr"/>
          <a:lstStyle/>
          <a:p>
            <a:pPr indent="0" marL="0">
              <a:buNone/>
            </a:pPr>
            <a:r>
              <a:rPr lang="en-US" sz="1200" b="1" spc="400" kern="0" dirty="0">
                <a:solidFill>
                  <a:srgbClr val="C9A227"/>
                </a:solidFill>
                <a:latin typeface="Calibri" pitchFamily="34" charset="0"/>
                <a:ea typeface="Calibri" pitchFamily="34" charset="-122"/>
                <a:cs typeface="Calibri" pitchFamily="34" charset="-120"/>
              </a:rPr>
              <a:t>PROPOSAL FOR A FIRST DISCUSSION</a:t>
            </a:r>
            <a:endParaRPr lang="en-US" sz="1200" dirty="0"/>
          </a:p>
        </p:txBody>
      </p:sp>
      <p:sp>
        <p:nvSpPr>
          <p:cNvPr id="3" name="Text 1"/>
          <p:cNvSpPr txBox="1"/>
          <p:nvPr/>
        </p:nvSpPr>
        <p:spPr>
          <a:xfrm>
            <a:off x="640080" y="1508760"/>
            <a:ext cx="7863840" cy="137160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AI Executive Intelligence Assistant</a:t>
            </a:r>
            <a:endParaRPr lang="en-US" sz="3000" dirty="0"/>
          </a:p>
          <a:p>
            <a:pPr indent="0" marL="0">
              <a:buNone/>
            </a:pPr>
            <a:r>
              <a:rPr lang="en-US" sz="3000" b="1" dirty="0">
                <a:solidFill>
                  <a:srgbClr val="FFFFFF"/>
                </a:solidFill>
                <a:latin typeface="Cambria" pitchFamily="34" charset="0"/>
                <a:ea typeface="Cambria" pitchFamily="34" charset="-122"/>
                <a:cs typeface="Cambria" pitchFamily="34" charset="-120"/>
              </a:rPr>
              <a:t>and CRM + Follow-up System</a:t>
            </a:r>
            <a:endParaRPr lang="en-US" sz="3000" dirty="0"/>
          </a:p>
        </p:txBody>
      </p:sp>
      <p:sp>
        <p:nvSpPr>
          <p:cNvPr id="4" name="Text 2"/>
          <p:cNvSpPr txBox="1"/>
          <p:nvPr/>
        </p:nvSpPr>
        <p:spPr>
          <a:xfrm>
            <a:off x="640080" y="3108960"/>
            <a:ext cx="7498080" cy="82296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A closed-domain, evidence-first assistant for management decisions, and a relationship system where no message leaves without a human's approval. Built separately, connected at the top, ready for your real data.</a:t>
            </a:r>
            <a:endParaRPr lang="en-US" sz="1400" dirty="0"/>
          </a:p>
        </p:txBody>
      </p:sp>
      <p:sp>
        <p:nvSpPr>
          <p:cNvPr id="5" name="Text 3"/>
          <p:cNvSpPr txBox="1"/>
          <p:nvPr/>
        </p:nvSpPr>
        <p:spPr>
          <a:xfrm>
            <a:off x="640080" y="4389120"/>
            <a:ext cx="5486400" cy="274320"/>
          </a:xfrm>
          <a:prstGeom prst="rect">
            <a:avLst/>
          </a:prstGeom>
          <a:noFill/>
          <a:ln/>
        </p:spPr>
        <p:txBody>
          <a:bodyPr wrap="square" lIns="0" tIns="0" rIns="0" bIns="0" rtlCol="0" anchor="ctr"/>
          <a:lstStyle/>
          <a:p>
            <a:pPr indent="0" marL="0">
              <a:buNone/>
            </a:pPr>
            <a:r>
              <a:rPr lang="en-US" sz="1100" dirty="0">
                <a:solidFill>
                  <a:srgbClr val="9AA7C7"/>
                </a:solidFill>
                <a:latin typeface="Calibri" pitchFamily="34" charset="0"/>
                <a:ea typeface="Calibri" pitchFamily="34" charset="-122"/>
                <a:cs typeface="Calibri" pitchFamily="34" charset="-120"/>
              </a:rPr>
              <a:t>September 2026  |  Confidential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503920" y="4754880"/>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Calibri" pitchFamily="34" charset="0"/>
                <a:ea typeface="Calibri" pitchFamily="34" charset="-122"/>
                <a:cs typeface="Calibri" pitchFamily="34" charset="-120"/>
              </a:rPr>
              <a:t>2</a:t>
            </a:r>
            <a:endParaRPr lang="en-US" sz="900" dirty="0"/>
          </a:p>
        </p:txBody>
      </p:sp>
      <p:sp>
        <p:nvSpPr>
          <p:cNvPr id="3" name="Text 1"/>
          <p:cNvSpPr txBox="1"/>
          <p:nvPr/>
        </p:nvSpPr>
        <p:spPr>
          <a:xfrm>
            <a:off x="457200" y="4754880"/>
            <a:ext cx="4572000" cy="274320"/>
          </a:xfrm>
          <a:prstGeom prst="rect">
            <a:avLst/>
          </a:prstGeom>
          <a:noFill/>
          <a:ln/>
        </p:spPr>
        <p:txBody>
          <a:bodyPr wrap="square" lIns="0" tIns="0" rIns="0" bIns="0" rtlCol="0" anchor="ctr"/>
          <a:lstStyle/>
          <a:p>
            <a:pPr indent="0" marL="0">
              <a:buNone/>
            </a:pPr>
            <a:r>
              <a:rPr lang="en-US" sz="900" dirty="0">
                <a:solidFill>
                  <a:srgbClr val="5A6270"/>
                </a:solidFill>
                <a:latin typeface="Calibri" pitchFamily="34" charset="0"/>
                <a:ea typeface="Calibri" pitchFamily="34" charset="-122"/>
                <a:cs typeface="Calibri" pitchFamily="34" charset="-120"/>
              </a:rPr>
              <a:t>Confidential  |  First-meeting proposal</a:t>
            </a:r>
            <a:endParaRPr lang="en-US" sz="900" dirty="0"/>
          </a:p>
        </p:txBody>
      </p:sp>
      <p:sp>
        <p:nvSpPr>
          <p:cNvPr id="4"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What we will cover</a:t>
            </a:r>
            <a:endParaRPr lang="en-US" sz="2400" dirty="0"/>
          </a:p>
        </p:txBody>
      </p:sp>
      <p:sp>
        <p:nvSpPr>
          <p:cNvPr id="5" name="Text 3"/>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A6270"/>
                </a:solidFill>
                <a:latin typeface="Calibri" pitchFamily="34" charset="0"/>
                <a:ea typeface="Calibri" pitchFamily="34" charset="-122"/>
                <a:cs typeface="Calibri" pitchFamily="34" charset="-120"/>
              </a:rPr>
              <a:t>Sixty minutes: your brief, our approach, the decisions ahead, next steps</a:t>
            </a:r>
            <a:endParaRPr lang="en-US" sz="1300" dirty="0"/>
          </a:p>
        </p:txBody>
      </p:sp>
      <p:sp>
        <p:nvSpPr>
          <p:cNvPr id="6" name="Shape 4"/>
          <p:cNvSpPr/>
          <p:nvPr/>
        </p:nvSpPr>
        <p:spPr>
          <a:xfrm>
            <a:off x="457200" y="1371600"/>
            <a:ext cx="384048" cy="384048"/>
          </a:xfrm>
          <a:prstGeom prst="ellipse">
            <a:avLst/>
          </a:prstGeom>
          <a:solidFill>
            <a:srgbClr val="1C7293"/>
          </a:solidFill>
          <a:ln w="12700">
            <a:solidFill>
              <a:srgbClr val="1C7293"/>
            </a:solidFill>
            <a:prstDash val="solid"/>
          </a:ln>
        </p:spPr>
      </p:sp>
      <p:sp>
        <p:nvSpPr>
          <p:cNvPr id="7" name="Text 5"/>
          <p:cNvSpPr txBox="1"/>
          <p:nvPr/>
        </p:nvSpPr>
        <p:spPr>
          <a:xfrm>
            <a:off x="457200" y="1371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960120" y="1325880"/>
            <a:ext cx="356616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Your brief, played back</a:t>
            </a:r>
            <a:endParaRPr lang="en-US" sz="1400" dirty="0"/>
          </a:p>
        </p:txBody>
      </p:sp>
      <p:sp>
        <p:nvSpPr>
          <p:cNvPr id="9" name="Text 7"/>
          <p:cNvSpPr txBox="1"/>
          <p:nvPr/>
        </p:nvSpPr>
        <p:spPr>
          <a:xfrm>
            <a:off x="960120" y="1645920"/>
            <a:ext cx="3566160" cy="640080"/>
          </a:xfrm>
          <a:prstGeom prst="rect">
            <a:avLst/>
          </a:prstGeom>
          <a:noFill/>
          <a:ln/>
        </p:spPr>
        <p:txBody>
          <a:bodyPr wrap="square" lIns="0" tIns="0" rIns="0" bIns="0" rtlCol="0" anchor="t"/>
          <a:lstStyle/>
          <a:p>
            <a:pPr indent="0" marL="0">
              <a:buNone/>
            </a:pPr>
            <a:r>
              <a:rPr lang="en-US" sz="1100" dirty="0">
                <a:solidFill>
                  <a:srgbClr val="444444"/>
                </a:solidFill>
                <a:latin typeface="Calibri" pitchFamily="34" charset="0"/>
                <a:ea typeface="Calibri" pitchFamily="34" charset="-122"/>
                <a:cs typeface="Calibri" pitchFamily="34" charset="-120"/>
              </a:rPr>
              <a:t>The four things System 1 must do, the five things System 2 must do, and the cross-cutting asks.</a:t>
            </a:r>
            <a:endParaRPr lang="en-US" sz="1100" dirty="0"/>
          </a:p>
        </p:txBody>
      </p:sp>
      <p:sp>
        <p:nvSpPr>
          <p:cNvPr id="10" name="Shape 8"/>
          <p:cNvSpPr/>
          <p:nvPr/>
        </p:nvSpPr>
        <p:spPr>
          <a:xfrm>
            <a:off x="4709160" y="1371600"/>
            <a:ext cx="384048" cy="384048"/>
          </a:xfrm>
          <a:prstGeom prst="ellipse">
            <a:avLst/>
          </a:prstGeom>
          <a:solidFill>
            <a:srgbClr val="1C7293"/>
          </a:solidFill>
          <a:ln w="12700">
            <a:solidFill>
              <a:srgbClr val="1C7293"/>
            </a:solidFill>
            <a:prstDash val="solid"/>
          </a:ln>
        </p:spPr>
      </p:sp>
      <p:sp>
        <p:nvSpPr>
          <p:cNvPr id="11" name="Text 9"/>
          <p:cNvSpPr txBox="1"/>
          <p:nvPr/>
        </p:nvSpPr>
        <p:spPr>
          <a:xfrm>
            <a:off x="4709160" y="1371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5212080" y="1325880"/>
            <a:ext cx="356616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Our approach</a:t>
            </a:r>
            <a:endParaRPr lang="en-US" sz="1400" dirty="0"/>
          </a:p>
        </p:txBody>
      </p:sp>
      <p:sp>
        <p:nvSpPr>
          <p:cNvPr id="13" name="Text 11"/>
          <p:cNvSpPr txBox="1"/>
          <p:nvPr/>
        </p:nvSpPr>
        <p:spPr>
          <a:xfrm>
            <a:off x="5212080" y="1645920"/>
            <a:ext cx="3566160" cy="640080"/>
          </a:xfrm>
          <a:prstGeom prst="rect">
            <a:avLst/>
          </a:prstGeom>
          <a:noFill/>
          <a:ln/>
        </p:spPr>
        <p:txBody>
          <a:bodyPr wrap="square" lIns="0" tIns="0" rIns="0" bIns="0" rtlCol="0" anchor="t"/>
          <a:lstStyle/>
          <a:p>
            <a:pPr indent="0" marL="0">
              <a:buNone/>
            </a:pPr>
            <a:r>
              <a:rPr lang="en-US" sz="1100" dirty="0">
                <a:solidFill>
                  <a:srgbClr val="444444"/>
                </a:solidFill>
                <a:latin typeface="Calibri" pitchFamily="34" charset="0"/>
                <a:ea typeface="Calibri" pitchFamily="34" charset="-122"/>
                <a:cs typeface="Calibri" pitchFamily="34" charset="-120"/>
              </a:rPr>
              <a:t>One shared platform, two independently usable products; how each requirement is met.</a:t>
            </a:r>
            <a:endParaRPr lang="en-US" sz="1100" dirty="0"/>
          </a:p>
        </p:txBody>
      </p:sp>
      <p:sp>
        <p:nvSpPr>
          <p:cNvPr id="14" name="Shape 12"/>
          <p:cNvSpPr/>
          <p:nvPr/>
        </p:nvSpPr>
        <p:spPr>
          <a:xfrm>
            <a:off x="457200" y="2468880"/>
            <a:ext cx="384048" cy="384048"/>
          </a:xfrm>
          <a:prstGeom prst="ellipse">
            <a:avLst/>
          </a:prstGeom>
          <a:solidFill>
            <a:srgbClr val="1C7293"/>
          </a:solidFill>
          <a:ln w="12700">
            <a:solidFill>
              <a:srgbClr val="1C7293"/>
            </a:solidFill>
            <a:prstDash val="solid"/>
          </a:ln>
        </p:spPr>
      </p:sp>
      <p:sp>
        <p:nvSpPr>
          <p:cNvPr id="15" name="Text 13"/>
          <p:cNvSpPr txBox="1"/>
          <p:nvPr/>
        </p:nvSpPr>
        <p:spPr>
          <a:xfrm>
            <a:off x="457200" y="2468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960120" y="2423160"/>
            <a:ext cx="356616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Data, security and residency</a:t>
            </a:r>
            <a:endParaRPr lang="en-US" sz="1400" dirty="0"/>
          </a:p>
        </p:txBody>
      </p:sp>
      <p:sp>
        <p:nvSpPr>
          <p:cNvPr id="17" name="Text 15"/>
          <p:cNvSpPr txBox="1"/>
          <p:nvPr/>
        </p:nvSpPr>
        <p:spPr>
          <a:xfrm>
            <a:off x="960120" y="2743200"/>
            <a:ext cx="3566160" cy="640080"/>
          </a:xfrm>
          <a:prstGeom prst="rect">
            <a:avLst/>
          </a:prstGeom>
          <a:noFill/>
          <a:ln/>
        </p:spPr>
        <p:txBody>
          <a:bodyPr wrap="square" lIns="0" tIns="0" rIns="0" bIns="0" rtlCol="0" anchor="t"/>
          <a:lstStyle/>
          <a:p>
            <a:pPr indent="0" marL="0">
              <a:buNone/>
            </a:pPr>
            <a:r>
              <a:rPr lang="en-US" sz="1100" dirty="0">
                <a:solidFill>
                  <a:srgbClr val="444444"/>
                </a:solidFill>
                <a:latin typeface="Calibri" pitchFamily="34" charset="0"/>
                <a:ea typeface="Calibri" pitchFamily="34" charset="-122"/>
                <a:cs typeface="Calibri" pitchFamily="34" charset="-120"/>
              </a:rPr>
              <a:t>Where data lives, who sees what, and the honest position on AI processing in the GCC.</a:t>
            </a:r>
            <a:endParaRPr lang="en-US" sz="1100" dirty="0"/>
          </a:p>
        </p:txBody>
      </p:sp>
      <p:sp>
        <p:nvSpPr>
          <p:cNvPr id="18" name="Shape 16"/>
          <p:cNvSpPr/>
          <p:nvPr/>
        </p:nvSpPr>
        <p:spPr>
          <a:xfrm>
            <a:off x="4709160" y="2468880"/>
            <a:ext cx="384048" cy="384048"/>
          </a:xfrm>
          <a:prstGeom prst="ellipse">
            <a:avLst/>
          </a:prstGeom>
          <a:solidFill>
            <a:srgbClr val="1C7293"/>
          </a:solidFill>
          <a:ln w="12700">
            <a:solidFill>
              <a:srgbClr val="1C7293"/>
            </a:solidFill>
            <a:prstDash val="solid"/>
          </a:ln>
        </p:spPr>
      </p:sp>
      <p:sp>
        <p:nvSpPr>
          <p:cNvPr id="19" name="Text 17"/>
          <p:cNvSpPr txBox="1"/>
          <p:nvPr/>
        </p:nvSpPr>
        <p:spPr>
          <a:xfrm>
            <a:off x="4709160" y="2468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5212080" y="2423160"/>
            <a:ext cx="356616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Plugging in real data later</a:t>
            </a:r>
            <a:endParaRPr lang="en-US" sz="1400" dirty="0"/>
          </a:p>
        </p:txBody>
      </p:sp>
      <p:sp>
        <p:nvSpPr>
          <p:cNvPr id="21" name="Text 19"/>
          <p:cNvSpPr txBox="1"/>
          <p:nvPr/>
        </p:nvSpPr>
        <p:spPr>
          <a:xfrm>
            <a:off x="5212080" y="2743200"/>
            <a:ext cx="3566160" cy="640080"/>
          </a:xfrm>
          <a:prstGeom prst="rect">
            <a:avLst/>
          </a:prstGeom>
          <a:noFill/>
          <a:ln/>
        </p:spPr>
        <p:txBody>
          <a:bodyPr wrap="square" lIns="0" tIns="0" rIns="0" bIns="0" rtlCol="0" anchor="t"/>
          <a:lstStyle/>
          <a:p>
            <a:pPr indent="0" marL="0">
              <a:buNone/>
            </a:pPr>
            <a:r>
              <a:rPr lang="en-US" sz="1100" dirty="0">
                <a:solidFill>
                  <a:srgbClr val="444444"/>
                </a:solidFill>
                <a:latin typeface="Calibri" pitchFamily="34" charset="0"/>
                <a:ea typeface="Calibri" pitchFamily="34" charset="-122"/>
                <a:cs typeface="Calibri" pitchFamily="34" charset="-120"/>
              </a:rPr>
              <a:t>Configuration, import templates and connectors: no rebuild.</a:t>
            </a:r>
            <a:endParaRPr lang="en-US" sz="1100" dirty="0"/>
          </a:p>
        </p:txBody>
      </p:sp>
      <p:sp>
        <p:nvSpPr>
          <p:cNvPr id="22" name="Shape 20"/>
          <p:cNvSpPr/>
          <p:nvPr/>
        </p:nvSpPr>
        <p:spPr>
          <a:xfrm>
            <a:off x="457200" y="3566160"/>
            <a:ext cx="384048" cy="384048"/>
          </a:xfrm>
          <a:prstGeom prst="ellipse">
            <a:avLst/>
          </a:prstGeom>
          <a:solidFill>
            <a:srgbClr val="1C7293"/>
          </a:solidFill>
          <a:ln w="12700">
            <a:solidFill>
              <a:srgbClr val="1C7293"/>
            </a:solidFill>
            <a:prstDash val="solid"/>
          </a:ln>
        </p:spPr>
      </p:sp>
      <p:sp>
        <p:nvSpPr>
          <p:cNvPr id="23" name="Text 21"/>
          <p:cNvSpPr txBox="1"/>
          <p:nvPr/>
        </p:nvSpPr>
        <p:spPr>
          <a:xfrm>
            <a:off x="457200" y="3566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txBox="1"/>
          <p:nvPr/>
        </p:nvSpPr>
        <p:spPr>
          <a:xfrm>
            <a:off x="960120" y="3520440"/>
            <a:ext cx="356616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Timeline and commercial model</a:t>
            </a:r>
            <a:endParaRPr lang="en-US" sz="1400" dirty="0"/>
          </a:p>
        </p:txBody>
      </p:sp>
      <p:sp>
        <p:nvSpPr>
          <p:cNvPr id="25" name="Text 23"/>
          <p:cNvSpPr txBox="1"/>
          <p:nvPr/>
        </p:nvSpPr>
        <p:spPr>
          <a:xfrm>
            <a:off x="960120" y="3840480"/>
            <a:ext cx="3566160" cy="640080"/>
          </a:xfrm>
          <a:prstGeom prst="rect">
            <a:avLst/>
          </a:prstGeom>
          <a:noFill/>
          <a:ln/>
        </p:spPr>
        <p:txBody>
          <a:bodyPr wrap="square" lIns="0" tIns="0" rIns="0" bIns="0" rtlCol="0" anchor="t"/>
          <a:lstStyle/>
          <a:p>
            <a:pPr indent="0" marL="0">
              <a:buNone/>
            </a:pPr>
            <a:r>
              <a:rPr lang="en-US" sz="1100" dirty="0">
                <a:solidFill>
                  <a:srgbClr val="444444"/>
                </a:solidFill>
                <a:latin typeface="Calibri" pitchFamily="34" charset="0"/>
                <a:ea typeface="Calibri" pitchFamily="34" charset="-122"/>
                <a:cs typeface="Calibri" pitchFamily="34" charset="-120"/>
              </a:rPr>
              <a:t>Demo at week 8-9, production at week 20; run-cost tiers; pricing structure; you own everything.</a:t>
            </a:r>
            <a:endParaRPr lang="en-US" sz="1100" dirty="0"/>
          </a:p>
        </p:txBody>
      </p:sp>
      <p:sp>
        <p:nvSpPr>
          <p:cNvPr id="26" name="Shape 24"/>
          <p:cNvSpPr/>
          <p:nvPr/>
        </p:nvSpPr>
        <p:spPr>
          <a:xfrm>
            <a:off x="4709160" y="3566160"/>
            <a:ext cx="384048" cy="384048"/>
          </a:xfrm>
          <a:prstGeom prst="ellipse">
            <a:avLst/>
          </a:prstGeom>
          <a:solidFill>
            <a:srgbClr val="1C7293"/>
          </a:solidFill>
          <a:ln w="12700">
            <a:solidFill>
              <a:srgbClr val="1C7293"/>
            </a:solidFill>
            <a:prstDash val="solid"/>
          </a:ln>
        </p:spPr>
      </p:sp>
      <p:sp>
        <p:nvSpPr>
          <p:cNvPr id="27" name="Text 25"/>
          <p:cNvSpPr txBox="1"/>
          <p:nvPr/>
        </p:nvSpPr>
        <p:spPr>
          <a:xfrm>
            <a:off x="4709160" y="3566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txBox="1"/>
          <p:nvPr/>
        </p:nvSpPr>
        <p:spPr>
          <a:xfrm>
            <a:off x="5212080" y="3520440"/>
            <a:ext cx="356616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Needs, gaps and next steps</a:t>
            </a:r>
            <a:endParaRPr lang="en-US" sz="1400" dirty="0"/>
          </a:p>
        </p:txBody>
      </p:sp>
      <p:sp>
        <p:nvSpPr>
          <p:cNvPr id="29" name="Text 27"/>
          <p:cNvSpPr txBox="1"/>
          <p:nvPr/>
        </p:nvSpPr>
        <p:spPr>
          <a:xfrm>
            <a:off x="5212080" y="3840480"/>
            <a:ext cx="3566160" cy="640080"/>
          </a:xfrm>
          <a:prstGeom prst="rect">
            <a:avLst/>
          </a:prstGeom>
          <a:noFill/>
          <a:ln/>
        </p:spPr>
        <p:txBody>
          <a:bodyPr wrap="square" lIns="0" tIns="0" rIns="0" bIns="0" rtlCol="0" anchor="t"/>
          <a:lstStyle/>
          <a:p>
            <a:pPr indent="0" marL="0">
              <a:buNone/>
            </a:pPr>
            <a:r>
              <a:rPr lang="en-US" sz="1100" dirty="0">
                <a:solidFill>
                  <a:srgbClr val="444444"/>
                </a:solidFill>
                <a:latin typeface="Calibri" pitchFamily="34" charset="0"/>
                <a:ea typeface="Calibri" pitchFamily="34" charset="-122"/>
                <a:cs typeface="Calibri" pitchFamily="34" charset="-120"/>
              </a:rPr>
              <a:t>Inputs from you and the decisions that make the project succeed.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503920" y="4754880"/>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Calibri" pitchFamily="34" charset="0"/>
                <a:ea typeface="Calibri" pitchFamily="34" charset="-122"/>
                <a:cs typeface="Calibri" pitchFamily="34" charset="-120"/>
              </a:rPr>
              <a:t>3</a:t>
            </a:r>
            <a:endParaRPr lang="en-US" sz="900" dirty="0"/>
          </a:p>
        </p:txBody>
      </p:sp>
      <p:sp>
        <p:nvSpPr>
          <p:cNvPr id="3" name="Text 1"/>
          <p:cNvSpPr txBox="1"/>
          <p:nvPr/>
        </p:nvSpPr>
        <p:spPr>
          <a:xfrm>
            <a:off x="457200" y="4754880"/>
            <a:ext cx="4572000" cy="274320"/>
          </a:xfrm>
          <a:prstGeom prst="rect">
            <a:avLst/>
          </a:prstGeom>
          <a:noFill/>
          <a:ln/>
        </p:spPr>
        <p:txBody>
          <a:bodyPr wrap="square" lIns="0" tIns="0" rIns="0" bIns="0" rtlCol="0" anchor="ctr"/>
          <a:lstStyle/>
          <a:p>
            <a:pPr indent="0" marL="0">
              <a:buNone/>
            </a:pPr>
            <a:r>
              <a:rPr lang="en-US" sz="900" dirty="0">
                <a:solidFill>
                  <a:srgbClr val="5A6270"/>
                </a:solidFill>
                <a:latin typeface="Calibri" pitchFamily="34" charset="0"/>
                <a:ea typeface="Calibri" pitchFamily="34" charset="-122"/>
                <a:cs typeface="Calibri" pitchFamily="34" charset="-120"/>
              </a:rPr>
              <a:t>Confidential  |  First-meeting proposal</a:t>
            </a:r>
            <a:endParaRPr lang="en-US" sz="900" dirty="0"/>
          </a:p>
        </p:txBody>
      </p:sp>
      <p:sp>
        <p:nvSpPr>
          <p:cNvPr id="4"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Your brief, as we understood it: System 1</a:t>
            </a:r>
            <a:endParaRPr lang="en-US" sz="2400" dirty="0"/>
          </a:p>
        </p:txBody>
      </p:sp>
      <p:sp>
        <p:nvSpPr>
          <p:cNvPr id="5" name="Text 3"/>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A6270"/>
                </a:solidFill>
                <a:latin typeface="Calibri" pitchFamily="34" charset="0"/>
                <a:ea typeface="Calibri" pitchFamily="34" charset="-122"/>
                <a:cs typeface="Calibri" pitchFamily="34" charset="-120"/>
              </a:rPr>
              <a:t>AI Executive Intelligence Assistant: a closed-domain question-answering tool with a verification layer, not a general chatbot</a:t>
            </a:r>
            <a:endParaRPr lang="en-US" sz="1300" dirty="0"/>
          </a:p>
        </p:txBody>
      </p:sp>
      <p:sp>
        <p:nvSpPr>
          <p:cNvPr id="6" name="Shape 4"/>
          <p:cNvSpPr/>
          <p:nvPr/>
        </p:nvSpPr>
        <p:spPr>
          <a:xfrm>
            <a:off x="457200" y="1371600"/>
            <a:ext cx="1965960" cy="1920240"/>
          </a:xfrm>
          <a:prstGeom prst="roundRect">
            <a:avLst>
              <a:gd name="adj" fmla="val 3810"/>
            </a:avLst>
          </a:prstGeom>
          <a:solidFill>
            <a:srgbClr val="F7F8FB"/>
          </a:solidFill>
          <a:ln w="12700">
            <a:solidFill>
              <a:srgbClr val="F7F8FB"/>
            </a:solidFill>
            <a:prstDash val="solid"/>
          </a:ln>
          <a:effectLst>
            <a:outerShdw sx="100000" sy="100000" kx="0" ky="0" algn="bl" rotWithShape="0" blurRad="50800" dist="19050" dir="5400000">
              <a:srgbClr val="000000">
                <a:alpha val="12000"/>
              </a:srgbClr>
            </a:outerShdw>
          </a:effectLst>
        </p:spPr>
      </p:sp>
      <p:sp>
        <p:nvSpPr>
          <p:cNvPr id="7" name="Text 5"/>
          <p:cNvSpPr txBox="1"/>
          <p:nvPr/>
        </p:nvSpPr>
        <p:spPr>
          <a:xfrm>
            <a:off x="594360" y="1463040"/>
            <a:ext cx="1691640" cy="50292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Retrieve</a:t>
            </a:r>
            <a:endParaRPr lang="en-US" sz="1250" dirty="0"/>
          </a:p>
        </p:txBody>
      </p:sp>
      <p:sp>
        <p:nvSpPr>
          <p:cNvPr id="8" name="Text 6"/>
          <p:cNvSpPr txBox="1"/>
          <p:nvPr/>
        </p:nvSpPr>
        <p:spPr>
          <a:xfrm>
            <a:off x="594360" y="1993392"/>
            <a:ext cx="1691640" cy="1207008"/>
          </a:xfrm>
          <a:prstGeom prst="rect">
            <a:avLst/>
          </a:prstGeom>
          <a:noFill/>
          <a:ln/>
        </p:spPr>
        <p:txBody>
          <a:bodyPr wrap="square" lIns="0" tIns="0" rIns="0" bIns="0" rtlCol="0" anchor="t"/>
          <a:lstStyle/>
          <a:p>
            <a:pPr indent="0" marL="0">
              <a:buNone/>
            </a:pPr>
            <a:r>
              <a:rPr lang="en-US" sz="1100" dirty="0">
                <a:solidFill>
                  <a:srgbClr val="333333"/>
                </a:solidFill>
                <a:latin typeface="Calibri" pitchFamily="34" charset="0"/>
                <a:ea typeface="Calibri" pitchFamily="34" charset="-122"/>
                <a:cs typeface="Calibri" pitchFamily="34" charset="-120"/>
              </a:rPr>
              <a:t>Specific information from documents on request. Controlled access, not the open internet.</a:t>
            </a:r>
            <a:endParaRPr lang="en-US" sz="1100" dirty="0"/>
          </a:p>
        </p:txBody>
      </p:sp>
      <p:sp>
        <p:nvSpPr>
          <p:cNvPr id="9" name="Shape 7"/>
          <p:cNvSpPr/>
          <p:nvPr/>
        </p:nvSpPr>
        <p:spPr>
          <a:xfrm>
            <a:off x="2560320" y="1371600"/>
            <a:ext cx="1965960" cy="1920240"/>
          </a:xfrm>
          <a:prstGeom prst="roundRect">
            <a:avLst>
              <a:gd name="adj" fmla="val 3810"/>
            </a:avLst>
          </a:prstGeom>
          <a:solidFill>
            <a:srgbClr val="EEF2FA"/>
          </a:solidFill>
          <a:ln w="12700">
            <a:solidFill>
              <a:srgbClr val="EEF2FA"/>
            </a:solidFill>
            <a:prstDash val="solid"/>
          </a:ln>
          <a:effectLst>
            <a:outerShdw sx="100000" sy="100000" kx="0" ky="0" algn="bl" rotWithShape="0" blurRad="50800" dist="19050" dir="5400000">
              <a:srgbClr val="000000">
                <a:alpha val="12000"/>
              </a:srgbClr>
            </a:outerShdw>
          </a:effectLst>
        </p:spPr>
      </p:sp>
      <p:sp>
        <p:nvSpPr>
          <p:cNvPr id="10" name="Text 8"/>
          <p:cNvSpPr txBox="1"/>
          <p:nvPr/>
        </p:nvSpPr>
        <p:spPr>
          <a:xfrm>
            <a:off x="2697480" y="1463040"/>
            <a:ext cx="1691640" cy="50292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Flag contradictions</a:t>
            </a:r>
            <a:endParaRPr lang="en-US" sz="1250" dirty="0"/>
          </a:p>
        </p:txBody>
      </p:sp>
      <p:sp>
        <p:nvSpPr>
          <p:cNvPr id="11" name="Text 9"/>
          <p:cNvSpPr txBox="1"/>
          <p:nvPr/>
        </p:nvSpPr>
        <p:spPr>
          <a:xfrm>
            <a:off x="2697480" y="1993392"/>
            <a:ext cx="1691640" cy="1207008"/>
          </a:xfrm>
          <a:prstGeom prst="rect">
            <a:avLst/>
          </a:prstGeom>
          <a:noFill/>
          <a:ln/>
        </p:spPr>
        <p:txBody>
          <a:bodyPr wrap="square" lIns="0" tIns="0" rIns="0" bIns="0" rtlCol="0" anchor="t"/>
          <a:lstStyle/>
          <a:p>
            <a:pPr indent="0" marL="0">
              <a:buNone/>
            </a:pPr>
            <a:r>
              <a:rPr lang="en-US" sz="1100" dirty="0">
                <a:solidFill>
                  <a:srgbClr val="333333"/>
                </a:solidFill>
                <a:latin typeface="Calibri" pitchFamily="34" charset="0"/>
                <a:ea typeface="Calibri" pitchFamily="34" charset="-122"/>
                <a:cs typeface="Calibri" pitchFamily="34" charset="-120"/>
              </a:rPr>
              <a:t>When two documents state different figures, dates or terms for the same thing.</a:t>
            </a:r>
            <a:endParaRPr lang="en-US" sz="1100" dirty="0"/>
          </a:p>
        </p:txBody>
      </p:sp>
      <p:sp>
        <p:nvSpPr>
          <p:cNvPr id="12" name="Shape 10"/>
          <p:cNvSpPr/>
          <p:nvPr/>
        </p:nvSpPr>
        <p:spPr>
          <a:xfrm>
            <a:off x="4663440" y="1371600"/>
            <a:ext cx="1965960" cy="1920240"/>
          </a:xfrm>
          <a:prstGeom prst="roundRect">
            <a:avLst>
              <a:gd name="adj" fmla="val 3810"/>
            </a:avLst>
          </a:prstGeom>
          <a:solidFill>
            <a:srgbClr val="F7F8FB"/>
          </a:solidFill>
          <a:ln w="12700">
            <a:solidFill>
              <a:srgbClr val="F7F8FB"/>
            </a:solidFill>
            <a:prstDash val="solid"/>
          </a:ln>
          <a:effectLst>
            <a:outerShdw sx="100000" sy="100000" kx="0" ky="0" algn="bl" rotWithShape="0" blurRad="50800" dist="19050" dir="5400000">
              <a:srgbClr val="000000">
                <a:alpha val="12000"/>
              </a:srgbClr>
            </a:outerShdw>
          </a:effectLst>
        </p:spPr>
      </p:sp>
      <p:sp>
        <p:nvSpPr>
          <p:cNvPr id="13" name="Text 11"/>
          <p:cNvSpPr txBox="1"/>
          <p:nvPr/>
        </p:nvSpPr>
        <p:spPr>
          <a:xfrm>
            <a:off x="4800600" y="1463040"/>
            <a:ext cx="1691640" cy="50292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Track missing information</a:t>
            </a:r>
            <a:endParaRPr lang="en-US" sz="1250" dirty="0"/>
          </a:p>
        </p:txBody>
      </p:sp>
      <p:sp>
        <p:nvSpPr>
          <p:cNvPr id="14" name="Text 12"/>
          <p:cNvSpPr txBox="1"/>
          <p:nvPr/>
        </p:nvSpPr>
        <p:spPr>
          <a:xfrm>
            <a:off x="4800600" y="1993392"/>
            <a:ext cx="1691640" cy="1207008"/>
          </a:xfrm>
          <a:prstGeom prst="rect">
            <a:avLst/>
          </a:prstGeom>
          <a:noFill/>
          <a:ln/>
        </p:spPr>
        <p:txBody>
          <a:bodyPr wrap="square" lIns="0" tIns="0" rIns="0" bIns="0" rtlCol="0" anchor="t"/>
          <a:lstStyle/>
          <a:p>
            <a:pPr indent="0" marL="0">
              <a:buNone/>
            </a:pPr>
            <a:r>
              <a:rPr lang="en-US" sz="1100" dirty="0">
                <a:solidFill>
                  <a:srgbClr val="333333"/>
                </a:solidFill>
                <a:latin typeface="Calibri" pitchFamily="34" charset="0"/>
                <a:ea typeface="Calibri" pitchFamily="34" charset="-122"/>
                <a:cs typeface="Calibri" pitchFamily="34" charset="-120"/>
              </a:rPr>
              <a:t>Gaps where a decision needs a document or data point not yet provided.</a:t>
            </a:r>
            <a:endParaRPr lang="en-US" sz="1100" dirty="0"/>
          </a:p>
        </p:txBody>
      </p:sp>
      <p:sp>
        <p:nvSpPr>
          <p:cNvPr id="15" name="Shape 13"/>
          <p:cNvSpPr/>
          <p:nvPr/>
        </p:nvSpPr>
        <p:spPr>
          <a:xfrm>
            <a:off x="6766560" y="1371600"/>
            <a:ext cx="1965960" cy="1920240"/>
          </a:xfrm>
          <a:prstGeom prst="roundRect">
            <a:avLst>
              <a:gd name="adj" fmla="val 3810"/>
            </a:avLst>
          </a:prstGeom>
          <a:solidFill>
            <a:srgbClr val="EEF2FA"/>
          </a:solidFill>
          <a:ln w="12700">
            <a:solidFill>
              <a:srgbClr val="EEF2FA"/>
            </a:solidFill>
            <a:prstDash val="solid"/>
          </a:ln>
          <a:effectLst>
            <a:outerShdw sx="100000" sy="100000" kx="0" ky="0" algn="bl" rotWithShape="0" blurRad="50800" dist="19050" dir="5400000">
              <a:srgbClr val="000000">
                <a:alpha val="12000"/>
              </a:srgbClr>
            </a:outerShdw>
          </a:effectLst>
        </p:spPr>
      </p:sp>
      <p:sp>
        <p:nvSpPr>
          <p:cNvPr id="16" name="Text 14"/>
          <p:cNvSpPr txBox="1"/>
          <p:nvPr/>
        </p:nvSpPr>
        <p:spPr>
          <a:xfrm>
            <a:off x="6903720" y="1463040"/>
            <a:ext cx="1691640" cy="50292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Answer in plain language</a:t>
            </a:r>
            <a:endParaRPr lang="en-US" sz="1250" dirty="0"/>
          </a:p>
        </p:txBody>
      </p:sp>
      <p:sp>
        <p:nvSpPr>
          <p:cNvPr id="17" name="Text 15"/>
          <p:cNvSpPr txBox="1"/>
          <p:nvPr/>
        </p:nvSpPr>
        <p:spPr>
          <a:xfrm>
            <a:off x="6903720" y="1993392"/>
            <a:ext cx="1691640" cy="1207008"/>
          </a:xfrm>
          <a:prstGeom prst="rect">
            <a:avLst/>
          </a:prstGeom>
          <a:noFill/>
          <a:ln/>
        </p:spPr>
        <p:txBody>
          <a:bodyPr wrap="square" lIns="0" tIns="0" rIns="0" bIns="0" rtlCol="0" anchor="t"/>
          <a:lstStyle/>
          <a:p>
            <a:pPr indent="0" marL="0">
              <a:buNone/>
            </a:pPr>
            <a:r>
              <a:rPr lang="en-US" sz="1100" dirty="0">
                <a:solidFill>
                  <a:srgbClr val="333333"/>
                </a:solidFill>
                <a:latin typeface="Calibri" pitchFamily="34" charset="0"/>
                <a:ea typeface="Calibri" pitchFamily="34" charset="-122"/>
                <a:cs typeface="Calibri" pitchFamily="34" charset="-120"/>
              </a:rPr>
              <a:t>Management questions answered only from the loaded document set.</a:t>
            </a:r>
            <a:endParaRPr lang="en-US" sz="1100" dirty="0"/>
          </a:p>
        </p:txBody>
      </p:sp>
      <p:sp>
        <p:nvSpPr>
          <p:cNvPr id="18" name="Shape 16"/>
          <p:cNvSpPr/>
          <p:nvPr/>
        </p:nvSpPr>
        <p:spPr>
          <a:xfrm>
            <a:off x="457200" y="3520440"/>
            <a:ext cx="8229600" cy="960120"/>
          </a:xfrm>
          <a:prstGeom prst="roundRect">
            <a:avLst>
              <a:gd name="adj" fmla="val 5714"/>
            </a:avLst>
          </a:prstGeom>
          <a:solidFill>
            <a:srgbClr val="1E2761"/>
          </a:solidFill>
          <a:ln w="12700">
            <a:solidFill>
              <a:srgbClr val="1E2761"/>
            </a:solidFill>
            <a:prstDash val="solid"/>
          </a:ln>
        </p:spPr>
      </p:sp>
      <p:sp>
        <p:nvSpPr>
          <p:cNvPr id="19" name="Text 17"/>
          <p:cNvSpPr txBox="1"/>
          <p:nvPr/>
        </p:nvSpPr>
        <p:spPr>
          <a:xfrm>
            <a:off x="685800" y="3611880"/>
            <a:ext cx="7772400" cy="777240"/>
          </a:xfrm>
          <a:prstGeom prst="rect">
            <a:avLst/>
          </a:prstGeom>
          <a:noFill/>
          <a:ln/>
        </p:spPr>
        <p:txBody>
          <a:bodyPr wrap="square" lIns="0" tIns="0" rIns="0" bIns="0" rtlCol="0" anchor="ctr"/>
          <a:lstStyle/>
          <a:p>
            <a:pPr indent="0" marL="0">
              <a:buNone/>
            </a:pPr>
            <a:r>
              <a:rPr lang="en-US" sz="1300" b="1" dirty="0">
                <a:solidFill>
                  <a:srgbClr val="C9A227"/>
                </a:solidFill>
                <a:latin typeface="Calibri" pitchFamily="34" charset="0"/>
                <a:ea typeface="Calibri" pitchFamily="34" charset="-122"/>
                <a:cs typeface="Calibri" pitchFamily="34" charset="-120"/>
              </a:rPr>
              <a:t>Corpus: </a:t>
            </a:r>
            <a:pPr indent="0" marL="0">
              <a:buNone/>
            </a:pPr>
            <a:r>
              <a:rPr lang="en-US" sz="1300" dirty="0">
                <a:solidFill>
                  <a:srgbClr val="FFFFFF"/>
                </a:solidFill>
                <a:latin typeface="Calibri" pitchFamily="34" charset="0"/>
                <a:ea typeface="Calibri" pitchFamily="34" charset="-122"/>
                <a:cs typeface="Calibri" pitchFamily="34" charset="-120"/>
              </a:rPr>
              <a:t>contracts, approvals, financial models, correspondence.   </a:t>
            </a:r>
            <a:pPr indent="0" marL="0">
              <a:buNone/>
            </a:pPr>
            <a:r>
              <a:rPr lang="en-US" sz="1300" b="1" dirty="0">
                <a:solidFill>
                  <a:srgbClr val="C9A227"/>
                </a:solidFill>
                <a:latin typeface="Calibri" pitchFamily="34" charset="0"/>
                <a:ea typeface="Calibri" pitchFamily="34" charset="-122"/>
                <a:cs typeface="Calibri" pitchFamily="34" charset="-120"/>
              </a:rPr>
              <a:t>Users: </a:t>
            </a:r>
            <a:pPr indent="0" marL="0">
              <a:buNone/>
            </a:pPr>
            <a:r>
              <a:rPr lang="en-US" sz="1300" dirty="0">
                <a:solidFill>
                  <a:srgbClr val="FFFFFF"/>
                </a:solidFill>
                <a:latin typeface="Calibri" pitchFamily="34" charset="0"/>
                <a:ea typeface="Calibri" pitchFamily="34" charset="-122"/>
                <a:cs typeface="Calibri" pitchFamily="34" charset="-120"/>
              </a:rPr>
              <a:t>management.   </a:t>
            </a:r>
            <a:pPr indent="0" marL="0">
              <a:buNone/>
            </a:pPr>
            <a:r>
              <a:rPr lang="en-US" sz="1300" b="1" dirty="0">
                <a:solidFill>
                  <a:srgbClr val="C9A227"/>
                </a:solidFill>
                <a:latin typeface="Calibri" pitchFamily="34" charset="0"/>
                <a:ea typeface="Calibri" pitchFamily="34" charset="-122"/>
                <a:cs typeface="Calibri" pitchFamily="34" charset="-120"/>
              </a:rPr>
              <a:t>Character: </a:t>
            </a:r>
            <a:pPr indent="0" marL="0">
              <a:buNone/>
            </a:pPr>
            <a:r>
              <a:rPr lang="en-US" sz="1300" dirty="0">
                <a:solidFill>
                  <a:srgbClr val="FFFFFF"/>
                </a:solidFill>
                <a:latin typeface="Calibri" pitchFamily="34" charset="0"/>
                <a:ea typeface="Calibri" pitchFamily="34" charset="-122"/>
                <a:cs typeface="Calibri" pitchFamily="34" charset="-120"/>
              </a:rPr>
              <a:t>a closed-domain RAG system with a verification and audit layer on top.</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503920" y="4754880"/>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Calibri" pitchFamily="34" charset="0"/>
                <a:ea typeface="Calibri" pitchFamily="34" charset="-122"/>
                <a:cs typeface="Calibri" pitchFamily="34" charset="-120"/>
              </a:rPr>
              <a:t>4</a:t>
            </a:r>
            <a:endParaRPr lang="en-US" sz="900" dirty="0"/>
          </a:p>
        </p:txBody>
      </p:sp>
      <p:sp>
        <p:nvSpPr>
          <p:cNvPr id="3" name="Text 1"/>
          <p:cNvSpPr txBox="1"/>
          <p:nvPr/>
        </p:nvSpPr>
        <p:spPr>
          <a:xfrm>
            <a:off x="457200" y="4754880"/>
            <a:ext cx="4572000" cy="274320"/>
          </a:xfrm>
          <a:prstGeom prst="rect">
            <a:avLst/>
          </a:prstGeom>
          <a:noFill/>
          <a:ln/>
        </p:spPr>
        <p:txBody>
          <a:bodyPr wrap="square" lIns="0" tIns="0" rIns="0" bIns="0" rtlCol="0" anchor="ctr"/>
          <a:lstStyle/>
          <a:p>
            <a:pPr indent="0" marL="0">
              <a:buNone/>
            </a:pPr>
            <a:r>
              <a:rPr lang="en-US" sz="900" dirty="0">
                <a:solidFill>
                  <a:srgbClr val="5A6270"/>
                </a:solidFill>
                <a:latin typeface="Calibri" pitchFamily="34" charset="0"/>
                <a:ea typeface="Calibri" pitchFamily="34" charset="-122"/>
                <a:cs typeface="Calibri" pitchFamily="34" charset="-120"/>
              </a:rPr>
              <a:t>Confidential  |  First-meeting proposal</a:t>
            </a:r>
            <a:endParaRPr lang="en-US" sz="900" dirty="0"/>
          </a:p>
        </p:txBody>
      </p:sp>
      <p:sp>
        <p:nvSpPr>
          <p:cNvPr id="4"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Your brief, as we understood it: System 2</a:t>
            </a:r>
            <a:endParaRPr lang="en-US" sz="2400" dirty="0"/>
          </a:p>
        </p:txBody>
      </p:sp>
      <p:sp>
        <p:nvSpPr>
          <p:cNvPr id="5" name="Text 3"/>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A6270"/>
                </a:solidFill>
                <a:latin typeface="Calibri" pitchFamily="34" charset="0"/>
                <a:ea typeface="Calibri" pitchFamily="34" charset="-122"/>
                <a:cs typeface="Calibri" pitchFamily="34" charset="-120"/>
              </a:rPr>
              <a:t>CRM + Follow-up System across investors, partners/counterparties and customers/members, with a GCC-specific pipeline</a:t>
            </a:r>
            <a:endParaRPr lang="en-US" sz="1300" dirty="0"/>
          </a:p>
        </p:txBody>
      </p:sp>
      <p:sp>
        <p:nvSpPr>
          <p:cNvPr id="6" name="Shape 4"/>
          <p:cNvSpPr/>
          <p:nvPr/>
        </p:nvSpPr>
        <p:spPr>
          <a:xfrm>
            <a:off x="457200" y="1371600"/>
            <a:ext cx="1965960" cy="1828800"/>
          </a:xfrm>
          <a:prstGeom prst="roundRect">
            <a:avLst>
              <a:gd name="adj" fmla="val 4000"/>
            </a:avLst>
          </a:prstGeom>
          <a:solidFill>
            <a:srgbClr val="F7F8FB"/>
          </a:solidFill>
          <a:ln w="12700">
            <a:solidFill>
              <a:srgbClr val="F7F8FB"/>
            </a:solidFill>
            <a:prstDash val="solid"/>
          </a:ln>
          <a:effectLst>
            <a:outerShdw sx="100000" sy="100000" kx="0" ky="0" algn="bl" rotWithShape="0" blurRad="50800" dist="19050" dir="5400000">
              <a:srgbClr val="000000">
                <a:alpha val="12000"/>
              </a:srgbClr>
            </a:outerShdw>
          </a:effectLst>
        </p:spPr>
      </p:sp>
      <p:sp>
        <p:nvSpPr>
          <p:cNvPr id="7" name="Text 5"/>
          <p:cNvSpPr txBox="1"/>
          <p:nvPr/>
        </p:nvSpPr>
        <p:spPr>
          <a:xfrm>
            <a:off x="594360" y="1463040"/>
            <a:ext cx="1691640" cy="50292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Records and stages</a:t>
            </a:r>
            <a:endParaRPr lang="en-US" sz="1250" dirty="0"/>
          </a:p>
        </p:txBody>
      </p:sp>
      <p:sp>
        <p:nvSpPr>
          <p:cNvPr id="8" name="Text 6"/>
          <p:cNvSpPr txBox="1"/>
          <p:nvPr/>
        </p:nvSpPr>
        <p:spPr>
          <a:xfrm>
            <a:off x="594360" y="1993392"/>
            <a:ext cx="1691640" cy="1115568"/>
          </a:xfrm>
          <a:prstGeom prst="rect">
            <a:avLst/>
          </a:prstGeom>
          <a:noFill/>
          <a:ln/>
        </p:spPr>
        <p:txBody>
          <a:bodyPr wrap="square" lIns="0" tIns="0" rIns="0" bIns="0" rtlCol="0" anchor="t"/>
          <a:lstStyle/>
          <a:p>
            <a:pPr indent="0" marL="0">
              <a:buNone/>
            </a:pPr>
            <a:r>
              <a:rPr lang="en-US" sz="1100" dirty="0">
                <a:solidFill>
                  <a:srgbClr val="333333"/>
                </a:solidFill>
                <a:latin typeface="Calibri" pitchFamily="34" charset="0"/>
                <a:ea typeface="Calibri" pitchFamily="34" charset="-122"/>
                <a:cs typeface="Calibri" pitchFamily="34" charset="-120"/>
              </a:rPr>
              <a:t>Contact and relationship records with stage and status tracking: initial contact, qualification, active discussion, dormant.</a:t>
            </a:r>
            <a:endParaRPr lang="en-US" sz="1100" dirty="0"/>
          </a:p>
        </p:txBody>
      </p:sp>
      <p:sp>
        <p:nvSpPr>
          <p:cNvPr id="9" name="Shape 7"/>
          <p:cNvSpPr/>
          <p:nvPr/>
        </p:nvSpPr>
        <p:spPr>
          <a:xfrm>
            <a:off x="2560320" y="1371600"/>
            <a:ext cx="1965960" cy="1828800"/>
          </a:xfrm>
          <a:prstGeom prst="roundRect">
            <a:avLst>
              <a:gd name="adj" fmla="val 4000"/>
            </a:avLst>
          </a:prstGeom>
          <a:solidFill>
            <a:srgbClr val="EEF2FA"/>
          </a:solidFill>
          <a:ln w="12700">
            <a:solidFill>
              <a:srgbClr val="EEF2FA"/>
            </a:solidFill>
            <a:prstDash val="solid"/>
          </a:ln>
          <a:effectLst>
            <a:outerShdw sx="100000" sy="100000" kx="0" ky="0" algn="bl" rotWithShape="0" blurRad="50800" dist="19050" dir="5400000">
              <a:srgbClr val="000000">
                <a:alpha val="12000"/>
              </a:srgbClr>
            </a:outerShdw>
          </a:effectLst>
        </p:spPr>
      </p:sp>
      <p:sp>
        <p:nvSpPr>
          <p:cNvPr id="10" name="Text 8"/>
          <p:cNvSpPr txBox="1"/>
          <p:nvPr/>
        </p:nvSpPr>
        <p:spPr>
          <a:xfrm>
            <a:off x="2697480" y="1463040"/>
            <a:ext cx="1691640" cy="50292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Follow-ups</a:t>
            </a:r>
            <a:endParaRPr lang="en-US" sz="1250" dirty="0"/>
          </a:p>
        </p:txBody>
      </p:sp>
      <p:sp>
        <p:nvSpPr>
          <p:cNvPr id="11" name="Text 9"/>
          <p:cNvSpPr txBox="1"/>
          <p:nvPr/>
        </p:nvSpPr>
        <p:spPr>
          <a:xfrm>
            <a:off x="2697480" y="1993392"/>
            <a:ext cx="1691640" cy="1115568"/>
          </a:xfrm>
          <a:prstGeom prst="rect">
            <a:avLst/>
          </a:prstGeom>
          <a:noFill/>
          <a:ln/>
        </p:spPr>
        <p:txBody>
          <a:bodyPr wrap="square" lIns="0" tIns="0" rIns="0" bIns="0" rtlCol="0" anchor="t"/>
          <a:lstStyle/>
          <a:p>
            <a:pPr indent="0" marL="0">
              <a:buNone/>
            </a:pPr>
            <a:r>
              <a:rPr lang="en-US" sz="1100" dirty="0">
                <a:solidFill>
                  <a:srgbClr val="333333"/>
                </a:solidFill>
                <a:latin typeface="Calibri" pitchFamily="34" charset="0"/>
                <a:ea typeface="Calibri" pitchFamily="34" charset="-122"/>
                <a:cs typeface="Calibri" pitchFamily="34" charset="-120"/>
              </a:rPr>
              <a:t>Scheduling and reminders so relationships do not slip.</a:t>
            </a:r>
            <a:endParaRPr lang="en-US" sz="1100" dirty="0"/>
          </a:p>
        </p:txBody>
      </p:sp>
      <p:sp>
        <p:nvSpPr>
          <p:cNvPr id="12" name="Shape 10"/>
          <p:cNvSpPr/>
          <p:nvPr/>
        </p:nvSpPr>
        <p:spPr>
          <a:xfrm>
            <a:off x="4663440" y="1371600"/>
            <a:ext cx="1965960" cy="1828800"/>
          </a:xfrm>
          <a:prstGeom prst="roundRect">
            <a:avLst>
              <a:gd name="adj" fmla="val 4000"/>
            </a:avLst>
          </a:prstGeom>
          <a:solidFill>
            <a:srgbClr val="FBF3DC"/>
          </a:solidFill>
          <a:ln w="12700">
            <a:solidFill>
              <a:srgbClr val="FBF3DC"/>
            </a:solidFill>
            <a:prstDash val="solid"/>
          </a:ln>
          <a:effectLst>
            <a:outerShdw sx="100000" sy="100000" kx="0" ky="0" algn="bl" rotWithShape="0" blurRad="50800" dist="19050" dir="5400000">
              <a:srgbClr val="000000">
                <a:alpha val="12000"/>
              </a:srgbClr>
            </a:outerShdw>
          </a:effectLst>
        </p:spPr>
      </p:sp>
      <p:sp>
        <p:nvSpPr>
          <p:cNvPr id="13" name="Text 11"/>
          <p:cNvSpPr txBox="1"/>
          <p:nvPr/>
        </p:nvSpPr>
        <p:spPr>
          <a:xfrm>
            <a:off x="4800600" y="1463040"/>
            <a:ext cx="1691640" cy="502920"/>
          </a:xfrm>
          <a:prstGeom prst="rect">
            <a:avLst/>
          </a:prstGeom>
          <a:noFill/>
          <a:ln/>
        </p:spPr>
        <p:txBody>
          <a:bodyPr wrap="square" lIns="0" tIns="0" rIns="0" bIns="0" rtlCol="0" anchor="t"/>
          <a:lstStyle/>
          <a:p>
            <a:pPr indent="0" marL="0">
              <a:buNone/>
            </a:pPr>
            <a:r>
              <a:rPr lang="en-US" sz="1250" b="1" dirty="0">
                <a:solidFill>
                  <a:srgbClr val="8A6D0B"/>
                </a:solidFill>
                <a:latin typeface="Calibri" pitchFamily="34" charset="0"/>
                <a:ea typeface="Calibri" pitchFamily="34" charset="-122"/>
                <a:cs typeface="Calibri" pitchFamily="34" charset="-120"/>
              </a:rPr>
              <a:t>Human approval on all outreach</a:t>
            </a:r>
            <a:endParaRPr lang="en-US" sz="1250" dirty="0"/>
          </a:p>
        </p:txBody>
      </p:sp>
      <p:sp>
        <p:nvSpPr>
          <p:cNvPr id="14" name="Text 12"/>
          <p:cNvSpPr txBox="1"/>
          <p:nvPr/>
        </p:nvSpPr>
        <p:spPr>
          <a:xfrm>
            <a:off x="4800600" y="1993392"/>
            <a:ext cx="1691640" cy="1115568"/>
          </a:xfrm>
          <a:prstGeom prst="rect">
            <a:avLst/>
          </a:prstGeom>
          <a:noFill/>
          <a:ln/>
        </p:spPr>
        <p:txBody>
          <a:bodyPr wrap="square" lIns="0" tIns="0" rIns="0" bIns="0" rtlCol="0" anchor="t"/>
          <a:lstStyle/>
          <a:p>
            <a:pPr indent="0" marL="0">
              <a:buNone/>
            </a:pPr>
            <a:r>
              <a:rPr lang="en-US" sz="1100" dirty="0">
                <a:solidFill>
                  <a:srgbClr val="333333"/>
                </a:solidFill>
                <a:latin typeface="Calibri" pitchFamily="34" charset="0"/>
                <a:ea typeface="Calibri" pitchFamily="34" charset="-122"/>
                <a:cs typeface="Calibri" pitchFamily="34" charset="-120"/>
              </a:rPr>
              <a:t>Every email or message passes a person before sending. No fully automated outbound communication.</a:t>
            </a:r>
            <a:endParaRPr lang="en-US" sz="1100" dirty="0"/>
          </a:p>
        </p:txBody>
      </p:sp>
      <p:sp>
        <p:nvSpPr>
          <p:cNvPr id="15" name="Shape 13"/>
          <p:cNvSpPr/>
          <p:nvPr/>
        </p:nvSpPr>
        <p:spPr>
          <a:xfrm>
            <a:off x="6766560" y="1371600"/>
            <a:ext cx="1965960" cy="1828800"/>
          </a:xfrm>
          <a:prstGeom prst="roundRect">
            <a:avLst>
              <a:gd name="adj" fmla="val 4000"/>
            </a:avLst>
          </a:prstGeom>
          <a:solidFill>
            <a:srgbClr val="EEF2FA"/>
          </a:solidFill>
          <a:ln w="12700">
            <a:solidFill>
              <a:srgbClr val="EEF2FA"/>
            </a:solidFill>
            <a:prstDash val="solid"/>
          </a:ln>
          <a:effectLst>
            <a:outerShdw sx="100000" sy="100000" kx="0" ky="0" algn="bl" rotWithShape="0" blurRad="50800" dist="19050" dir="5400000">
              <a:srgbClr val="000000">
                <a:alpha val="12000"/>
              </a:srgbClr>
            </a:outerShdw>
          </a:effectLst>
        </p:spPr>
      </p:sp>
      <p:sp>
        <p:nvSpPr>
          <p:cNvPr id="16" name="Text 14"/>
          <p:cNvSpPr txBox="1"/>
          <p:nvPr/>
        </p:nvSpPr>
        <p:spPr>
          <a:xfrm>
            <a:off x="6903720" y="1463040"/>
            <a:ext cx="1691640" cy="50292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Basic reporting</a:t>
            </a:r>
            <a:endParaRPr lang="en-US" sz="1250" dirty="0"/>
          </a:p>
        </p:txBody>
      </p:sp>
      <p:sp>
        <p:nvSpPr>
          <p:cNvPr id="17" name="Text 15"/>
          <p:cNvSpPr txBox="1"/>
          <p:nvPr/>
        </p:nvSpPr>
        <p:spPr>
          <a:xfrm>
            <a:off x="6903720" y="1993392"/>
            <a:ext cx="1691640" cy="1115568"/>
          </a:xfrm>
          <a:prstGeom prst="rect">
            <a:avLst/>
          </a:prstGeom>
          <a:noFill/>
          <a:ln/>
        </p:spPr>
        <p:txBody>
          <a:bodyPr wrap="square" lIns="0" tIns="0" rIns="0" bIns="0" rtlCol="0" anchor="t"/>
          <a:lstStyle/>
          <a:p>
            <a:pPr indent="0" marL="0">
              <a:buNone/>
            </a:pPr>
            <a:r>
              <a:rPr lang="en-US" sz="1100" dirty="0">
                <a:solidFill>
                  <a:srgbClr val="333333"/>
                </a:solidFill>
                <a:latin typeface="Calibri" pitchFamily="34" charset="0"/>
                <a:ea typeface="Calibri" pitchFamily="34" charset="-122"/>
                <a:cs typeface="Calibri" pitchFamily="34" charset="-120"/>
              </a:rPr>
              <a:t>Who has been contacted, what stage they are at, what is overdue.</a:t>
            </a:r>
            <a:endParaRPr lang="en-US" sz="1100" dirty="0"/>
          </a:p>
        </p:txBody>
      </p:sp>
      <p:sp>
        <p:nvSpPr>
          <p:cNvPr id="18" name="Text 16"/>
          <p:cNvSpPr txBox="1"/>
          <p:nvPr/>
        </p:nvSpPr>
        <p:spPr>
          <a:xfrm>
            <a:off x="457200" y="3383280"/>
            <a:ext cx="3657600" cy="27432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Cross-cutting asks</a:t>
            </a:r>
            <a:endParaRPr lang="en-US" sz="1300" dirty="0"/>
          </a:p>
        </p:txBody>
      </p:sp>
      <p:sp>
        <p:nvSpPr>
          <p:cNvPr id="19" name="Text 17"/>
          <p:cNvSpPr txBox="1"/>
          <p:nvPr/>
        </p:nvSpPr>
        <p:spPr>
          <a:xfrm>
            <a:off x="457200" y="3657600"/>
            <a:ext cx="8229600" cy="10058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Proposed build approach and tools for each system (same platform or different)</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A structure that accepts real data later without a rebuild</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Timeline to a working structure and demo</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Cost or pricing model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457200"/>
          </a:xfrm>
          <a:prstGeom prst="rect">
            <a:avLst/>
          </a:prstGeom>
          <a:noFill/>
          <a:ln/>
        </p:spPr>
        <p:txBody>
          <a:bodyPr wrap="square" lIns="0" tIns="0" rIns="0" bIns="0" rtlCol="0" anchor="ctr"/>
          <a:lstStyle/>
          <a:p>
            <a:pPr indent="0" marL="0">
              <a:buNone/>
            </a:pPr>
            <a:r>
              <a:rPr lang="en-US" sz="1400" b="1" spc="200" kern="0" dirty="0">
                <a:solidFill>
                  <a:srgbClr val="C9A227"/>
                </a:solidFill>
                <a:latin typeface="Calibri" pitchFamily="34" charset="0"/>
                <a:ea typeface="Calibri" pitchFamily="34" charset="-122"/>
                <a:cs typeface="Calibri" pitchFamily="34" charset="-120"/>
              </a:rPr>
              <a:t>Our answer in one line</a:t>
            </a:r>
            <a:endParaRPr lang="en-US" sz="1400" dirty="0"/>
          </a:p>
        </p:txBody>
      </p:sp>
      <p:sp>
        <p:nvSpPr>
          <p:cNvPr id="3" name="Text 1"/>
          <p:cNvSpPr txBox="1"/>
          <p:nvPr/>
        </p:nvSpPr>
        <p:spPr>
          <a:xfrm>
            <a:off x="640080" y="868680"/>
            <a:ext cx="7863840" cy="137160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Build both systems on one shared platform, deliver them as separately usable products, and make real data a configuration step, not a rebuild.</a:t>
            </a:r>
            <a:endParaRPr lang="en-US" sz="2100" dirty="0"/>
          </a:p>
        </p:txBody>
      </p:sp>
      <p:sp>
        <p:nvSpPr>
          <p:cNvPr id="4" name="Shape 2"/>
          <p:cNvSpPr/>
          <p:nvPr/>
        </p:nvSpPr>
        <p:spPr>
          <a:xfrm>
            <a:off x="640080" y="2423160"/>
            <a:ext cx="2514600" cy="1691640"/>
          </a:xfrm>
          <a:prstGeom prst="roundRect">
            <a:avLst>
              <a:gd name="adj" fmla="val 4324"/>
            </a:avLst>
          </a:prstGeom>
          <a:solidFill>
            <a:srgbClr val="273479"/>
          </a:solidFill>
          <a:ln w="12700">
            <a:solidFill>
              <a:srgbClr val="3A4A9A"/>
            </a:solidFill>
            <a:prstDash val="solid"/>
          </a:ln>
        </p:spPr>
      </p:sp>
      <p:sp>
        <p:nvSpPr>
          <p:cNvPr id="5" name="Text 3"/>
          <p:cNvSpPr txBox="1"/>
          <p:nvPr/>
        </p:nvSpPr>
        <p:spPr>
          <a:xfrm>
            <a:off x="822960" y="2560320"/>
            <a:ext cx="2194560" cy="365760"/>
          </a:xfrm>
          <a:prstGeom prst="rect">
            <a:avLst/>
          </a:prstGeom>
          <a:noFill/>
          <a:ln/>
        </p:spPr>
        <p:txBody>
          <a:bodyPr wrap="square" lIns="0" tIns="0" rIns="0" bIns="0" rtlCol="0" anchor="ctr"/>
          <a:lstStyle/>
          <a:p>
            <a:pPr indent="0" marL="0">
              <a:buNone/>
            </a:pPr>
            <a:r>
              <a:rPr lang="en-US" sz="1500" b="1" dirty="0">
                <a:solidFill>
                  <a:srgbClr val="C9A227"/>
                </a:solidFill>
                <a:latin typeface="Calibri" pitchFamily="34" charset="0"/>
                <a:ea typeface="Calibri" pitchFamily="34" charset="-122"/>
                <a:cs typeface="Calibri" pitchFamily="34" charset="-120"/>
              </a:rPr>
              <a:t>Evidence first</a:t>
            </a:r>
            <a:endParaRPr lang="en-US" sz="1500" dirty="0"/>
          </a:p>
        </p:txBody>
      </p:sp>
      <p:sp>
        <p:nvSpPr>
          <p:cNvPr id="6" name="Text 4"/>
          <p:cNvSpPr txBox="1"/>
          <p:nvPr/>
        </p:nvSpPr>
        <p:spPr>
          <a:xfrm>
            <a:off x="822960" y="2926080"/>
            <a:ext cx="2194560" cy="1097280"/>
          </a:xfrm>
          <a:prstGeom prst="rect">
            <a:avLst/>
          </a:prstGeom>
          <a:noFill/>
          <a:ln/>
        </p:spPr>
        <p:txBody>
          <a:bodyPr wrap="square" lIns="0" tIns="0" rIns="0" bIns="0" rtlCol="0" anchor="t"/>
          <a:lstStyle/>
          <a:p>
            <a:pPr indent="0" marL="0">
              <a:buNone/>
            </a:pPr>
            <a:r>
              <a:rPr lang="en-US" sz="1200" dirty="0">
                <a:solidFill>
                  <a:srgbClr val="E6EAF7"/>
                </a:solidFill>
                <a:latin typeface="Calibri" pitchFamily="34" charset="0"/>
                <a:ea typeface="Calibri" pitchFamily="34" charset="-122"/>
                <a:cs typeface="Calibri" pitchFamily="34" charset="-120"/>
              </a:rPr>
              <a:t>Answers only from your documents, cited to the page, refused when unsupported.</a:t>
            </a:r>
            <a:endParaRPr lang="en-US" sz="1200" dirty="0"/>
          </a:p>
        </p:txBody>
      </p:sp>
      <p:sp>
        <p:nvSpPr>
          <p:cNvPr id="7" name="Shape 5"/>
          <p:cNvSpPr/>
          <p:nvPr/>
        </p:nvSpPr>
        <p:spPr>
          <a:xfrm>
            <a:off x="3337560" y="2423160"/>
            <a:ext cx="2514600" cy="1691640"/>
          </a:xfrm>
          <a:prstGeom prst="roundRect">
            <a:avLst>
              <a:gd name="adj" fmla="val 4324"/>
            </a:avLst>
          </a:prstGeom>
          <a:solidFill>
            <a:srgbClr val="273479"/>
          </a:solidFill>
          <a:ln w="12700">
            <a:solidFill>
              <a:srgbClr val="3A4A9A"/>
            </a:solidFill>
            <a:prstDash val="solid"/>
          </a:ln>
        </p:spPr>
      </p:sp>
      <p:sp>
        <p:nvSpPr>
          <p:cNvPr id="8" name="Text 6"/>
          <p:cNvSpPr txBox="1"/>
          <p:nvPr/>
        </p:nvSpPr>
        <p:spPr>
          <a:xfrm>
            <a:off x="3520440" y="2560320"/>
            <a:ext cx="2194560" cy="365760"/>
          </a:xfrm>
          <a:prstGeom prst="rect">
            <a:avLst/>
          </a:prstGeom>
          <a:noFill/>
          <a:ln/>
        </p:spPr>
        <p:txBody>
          <a:bodyPr wrap="square" lIns="0" tIns="0" rIns="0" bIns="0" rtlCol="0" anchor="ctr"/>
          <a:lstStyle/>
          <a:p>
            <a:pPr indent="0" marL="0">
              <a:buNone/>
            </a:pPr>
            <a:r>
              <a:rPr lang="en-US" sz="1500" b="1" dirty="0">
                <a:solidFill>
                  <a:srgbClr val="C9A227"/>
                </a:solidFill>
                <a:latin typeface="Calibri" pitchFamily="34" charset="0"/>
                <a:ea typeface="Calibri" pitchFamily="34" charset="-122"/>
                <a:cs typeface="Calibri" pitchFamily="34" charset="-120"/>
              </a:rPr>
              <a:t>Human in control</a:t>
            </a:r>
            <a:endParaRPr lang="en-US" sz="1500" dirty="0"/>
          </a:p>
        </p:txBody>
      </p:sp>
      <p:sp>
        <p:nvSpPr>
          <p:cNvPr id="9" name="Text 7"/>
          <p:cNvSpPr txBox="1"/>
          <p:nvPr/>
        </p:nvSpPr>
        <p:spPr>
          <a:xfrm>
            <a:off x="3520440" y="2926080"/>
            <a:ext cx="2194560" cy="1097280"/>
          </a:xfrm>
          <a:prstGeom prst="rect">
            <a:avLst/>
          </a:prstGeom>
          <a:noFill/>
          <a:ln/>
        </p:spPr>
        <p:txBody>
          <a:bodyPr wrap="square" lIns="0" tIns="0" rIns="0" bIns="0" rtlCol="0" anchor="t"/>
          <a:lstStyle/>
          <a:p>
            <a:pPr indent="0" marL="0">
              <a:buNone/>
            </a:pPr>
            <a:r>
              <a:rPr lang="en-US" sz="1200" dirty="0">
                <a:solidFill>
                  <a:srgbClr val="E6EAF7"/>
                </a:solidFill>
                <a:latin typeface="Calibri" pitchFamily="34" charset="0"/>
                <a:ea typeface="Calibri" pitchFamily="34" charset="-122"/>
                <a:cs typeface="Calibri" pitchFamily="34" charset="-120"/>
              </a:rPr>
              <a:t>No outbound message without a named approver. Reminders go to staff, never to contacts.</a:t>
            </a:r>
            <a:endParaRPr lang="en-US" sz="1200" dirty="0"/>
          </a:p>
        </p:txBody>
      </p:sp>
      <p:sp>
        <p:nvSpPr>
          <p:cNvPr id="10" name="Shape 8"/>
          <p:cNvSpPr/>
          <p:nvPr/>
        </p:nvSpPr>
        <p:spPr>
          <a:xfrm>
            <a:off x="6035040" y="2423160"/>
            <a:ext cx="2514600" cy="1691640"/>
          </a:xfrm>
          <a:prstGeom prst="roundRect">
            <a:avLst>
              <a:gd name="adj" fmla="val 4324"/>
            </a:avLst>
          </a:prstGeom>
          <a:solidFill>
            <a:srgbClr val="273479"/>
          </a:solidFill>
          <a:ln w="12700">
            <a:solidFill>
              <a:srgbClr val="3A4A9A"/>
            </a:solidFill>
            <a:prstDash val="solid"/>
          </a:ln>
        </p:spPr>
      </p:sp>
      <p:sp>
        <p:nvSpPr>
          <p:cNvPr id="11" name="Text 9"/>
          <p:cNvSpPr txBox="1"/>
          <p:nvPr/>
        </p:nvSpPr>
        <p:spPr>
          <a:xfrm>
            <a:off x="6217920" y="2560320"/>
            <a:ext cx="2194560" cy="365760"/>
          </a:xfrm>
          <a:prstGeom prst="rect">
            <a:avLst/>
          </a:prstGeom>
          <a:noFill/>
          <a:ln/>
        </p:spPr>
        <p:txBody>
          <a:bodyPr wrap="square" lIns="0" tIns="0" rIns="0" bIns="0" rtlCol="0" anchor="ctr"/>
          <a:lstStyle/>
          <a:p>
            <a:pPr indent="0" marL="0">
              <a:buNone/>
            </a:pPr>
            <a:r>
              <a:rPr lang="en-US" sz="1500" b="1" dirty="0">
                <a:solidFill>
                  <a:srgbClr val="C9A227"/>
                </a:solidFill>
                <a:latin typeface="Calibri" pitchFamily="34" charset="0"/>
                <a:ea typeface="Calibri" pitchFamily="34" charset="-122"/>
                <a:cs typeface="Calibri" pitchFamily="34" charset="-120"/>
              </a:rPr>
              <a:t>Yours from day one</a:t>
            </a:r>
            <a:endParaRPr lang="en-US" sz="1500" dirty="0"/>
          </a:p>
        </p:txBody>
      </p:sp>
      <p:sp>
        <p:nvSpPr>
          <p:cNvPr id="12" name="Text 10"/>
          <p:cNvSpPr txBox="1"/>
          <p:nvPr/>
        </p:nvSpPr>
        <p:spPr>
          <a:xfrm>
            <a:off x="6217920" y="2926080"/>
            <a:ext cx="2194560" cy="1097280"/>
          </a:xfrm>
          <a:prstGeom prst="rect">
            <a:avLst/>
          </a:prstGeom>
          <a:noFill/>
          <a:ln/>
        </p:spPr>
        <p:txBody>
          <a:bodyPr wrap="square" lIns="0" tIns="0" rIns="0" bIns="0" rtlCol="0" anchor="t"/>
          <a:lstStyle/>
          <a:p>
            <a:pPr indent="0" marL="0">
              <a:buNone/>
            </a:pPr>
            <a:r>
              <a:rPr lang="en-US" sz="1200" dirty="0">
                <a:solidFill>
                  <a:srgbClr val="E6EAF7"/>
                </a:solidFill>
                <a:latin typeface="Calibri" pitchFamily="34" charset="0"/>
                <a:ea typeface="Calibri" pitchFamily="34" charset="-122"/>
                <a:cs typeface="Calibri" pitchFamily="34" charset="-120"/>
              </a:rPr>
              <a:t>You own the code, the cloud accounts and the data. AI vendors are swappable behind a gateway.</a:t>
            </a:r>
            <a:endParaRPr lang="en-US" sz="1200" dirty="0"/>
          </a:p>
        </p:txBody>
      </p:sp>
      <p:sp>
        <p:nvSpPr>
          <p:cNvPr id="13" name="Text 11"/>
          <p:cNvSpPr txBox="1"/>
          <p:nvPr/>
        </p:nvSpPr>
        <p:spPr>
          <a:xfrm>
            <a:off x="640080" y="4343400"/>
            <a:ext cx="786384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Working, integrated demo at week 8-9.  Production at week 20.  Pilot run cost from roughly USD 150-400 per month.</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503920" y="4754880"/>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Calibri" pitchFamily="34" charset="0"/>
                <a:ea typeface="Calibri" pitchFamily="34" charset="-122"/>
                <a:cs typeface="Calibri" pitchFamily="34" charset="-120"/>
              </a:rPr>
              <a:t>6</a:t>
            </a:r>
            <a:endParaRPr lang="en-US" sz="900" dirty="0"/>
          </a:p>
        </p:txBody>
      </p:sp>
      <p:sp>
        <p:nvSpPr>
          <p:cNvPr id="3" name="Text 1"/>
          <p:cNvSpPr txBox="1"/>
          <p:nvPr/>
        </p:nvSpPr>
        <p:spPr>
          <a:xfrm>
            <a:off x="457200" y="4754880"/>
            <a:ext cx="4572000" cy="274320"/>
          </a:xfrm>
          <a:prstGeom prst="rect">
            <a:avLst/>
          </a:prstGeom>
          <a:noFill/>
          <a:ln/>
        </p:spPr>
        <p:txBody>
          <a:bodyPr wrap="square" lIns="0" tIns="0" rIns="0" bIns="0" rtlCol="0" anchor="ctr"/>
          <a:lstStyle/>
          <a:p>
            <a:pPr indent="0" marL="0">
              <a:buNone/>
            </a:pPr>
            <a:r>
              <a:rPr lang="en-US" sz="900" dirty="0">
                <a:solidFill>
                  <a:srgbClr val="5A6270"/>
                </a:solidFill>
                <a:latin typeface="Calibri" pitchFamily="34" charset="0"/>
                <a:ea typeface="Calibri" pitchFamily="34" charset="-122"/>
                <a:cs typeface="Calibri" pitchFamily="34" charset="-120"/>
              </a:rPr>
              <a:t>Confidential  |  First-meeting proposal</a:t>
            </a:r>
            <a:endParaRPr lang="en-US" sz="900" dirty="0"/>
          </a:p>
        </p:txBody>
      </p:sp>
      <p:sp>
        <p:nvSpPr>
          <p:cNvPr id="4"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One platform, two products, connected at the top</a:t>
            </a:r>
            <a:endParaRPr lang="en-US" sz="2400" dirty="0"/>
          </a:p>
        </p:txBody>
      </p:sp>
      <p:sp>
        <p:nvSpPr>
          <p:cNvPr id="5" name="Text 3"/>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A6270"/>
                </a:solidFill>
                <a:latin typeface="Calibri" pitchFamily="34" charset="0"/>
                <a:ea typeface="Calibri" pitchFamily="34" charset="-122"/>
                <a:cs typeface="Calibri" pitchFamily="34" charset="-120"/>
              </a:rPr>
              <a:t>Each system is developed and usable on its own; they share identity, entities, documents, the AI gateway and one audit trail</a:t>
            </a:r>
            <a:endParaRPr lang="en-US" sz="1300" dirty="0"/>
          </a:p>
        </p:txBody>
      </p:sp>
      <p:pic>
        <p:nvPicPr>
          <p:cNvPr id="6" name="Image 0" descr="/home/user/CRM/proposal/diagrams/01_platform_overview.png">    </p:cNvPr>
          <p:cNvPicPr>
            <a:picLocks noChangeAspect="1"/>
          </p:cNvPicPr>
          <p:nvPr/>
        </p:nvPicPr>
        <p:blipFill>
          <a:blip r:embed="rId1"/>
          <a:srcRect l="0" r="0" t="0" b="0"/>
          <a:stretch/>
        </p:blipFill>
        <p:spPr>
          <a:xfrm>
            <a:off x="457200" y="1188720"/>
            <a:ext cx="8229600" cy="34747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503920" y="4754880"/>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Calibri" pitchFamily="34" charset="0"/>
                <a:ea typeface="Calibri" pitchFamily="34" charset="-122"/>
                <a:cs typeface="Calibri" pitchFamily="34" charset="-120"/>
              </a:rPr>
              <a:t>7</a:t>
            </a:r>
            <a:endParaRPr lang="en-US" sz="900" dirty="0"/>
          </a:p>
        </p:txBody>
      </p:sp>
      <p:sp>
        <p:nvSpPr>
          <p:cNvPr id="3" name="Text 1"/>
          <p:cNvSpPr txBox="1"/>
          <p:nvPr/>
        </p:nvSpPr>
        <p:spPr>
          <a:xfrm>
            <a:off x="457200" y="4754880"/>
            <a:ext cx="4572000" cy="274320"/>
          </a:xfrm>
          <a:prstGeom prst="rect">
            <a:avLst/>
          </a:prstGeom>
          <a:noFill/>
          <a:ln/>
        </p:spPr>
        <p:txBody>
          <a:bodyPr wrap="square" lIns="0" tIns="0" rIns="0" bIns="0" rtlCol="0" anchor="ctr"/>
          <a:lstStyle/>
          <a:p>
            <a:pPr indent="0" marL="0">
              <a:buNone/>
            </a:pPr>
            <a:r>
              <a:rPr lang="en-US" sz="900" dirty="0">
                <a:solidFill>
                  <a:srgbClr val="5A6270"/>
                </a:solidFill>
                <a:latin typeface="Calibri" pitchFamily="34" charset="0"/>
                <a:ea typeface="Calibri" pitchFamily="34" charset="-122"/>
                <a:cs typeface="Calibri" pitchFamily="34" charset="-120"/>
              </a:rPr>
              <a:t>Confidential  |  First-meeting proposal</a:t>
            </a:r>
            <a:endParaRPr lang="en-US" sz="900" dirty="0"/>
          </a:p>
        </p:txBody>
      </p:sp>
      <p:sp>
        <p:nvSpPr>
          <p:cNvPr id="4"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System 1: shows its work, checks its homework</a:t>
            </a:r>
            <a:endParaRPr lang="en-US" sz="2400" dirty="0"/>
          </a:p>
        </p:txBody>
      </p:sp>
      <p:sp>
        <p:nvSpPr>
          <p:cNvPr id="5" name="Text 3"/>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A6270"/>
                </a:solidFill>
                <a:latin typeface="Calibri" pitchFamily="34" charset="0"/>
                <a:ea typeface="Calibri" pitchFamily="34" charset="-122"/>
                <a:cs typeface="Calibri" pitchFamily="34" charset="-120"/>
              </a:rPr>
              <a:t>Retrieval-augmented generation with citations, a grounding check and refusal when the documents do not contain the answer</a:t>
            </a:r>
            <a:endParaRPr lang="en-US" sz="1300" dirty="0"/>
          </a:p>
        </p:txBody>
      </p:sp>
      <p:pic>
        <p:nvPicPr>
          <p:cNvPr id="6" name="Image 0" descr="/home/user/CRM/proposal/diagrams/02_eia_pipeline.png">    </p:cNvPr>
          <p:cNvPicPr>
            <a:picLocks noChangeAspect="1"/>
          </p:cNvPicPr>
          <p:nvPr/>
        </p:nvPicPr>
        <p:blipFill>
          <a:blip r:embed="rId1"/>
          <a:srcRect l="0" r="0" t="0" b="0"/>
          <a:stretch/>
        </p:blipFill>
        <p:spPr>
          <a:xfrm>
            <a:off x="457200" y="1188720"/>
            <a:ext cx="8229600" cy="34747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503920" y="4754880"/>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Calibri" pitchFamily="34" charset="0"/>
                <a:ea typeface="Calibri" pitchFamily="34" charset="-122"/>
                <a:cs typeface="Calibri" pitchFamily="34" charset="-120"/>
              </a:rPr>
              <a:t>8</a:t>
            </a:r>
            <a:endParaRPr lang="en-US" sz="900" dirty="0"/>
          </a:p>
        </p:txBody>
      </p:sp>
      <p:sp>
        <p:nvSpPr>
          <p:cNvPr id="3" name="Text 1"/>
          <p:cNvSpPr txBox="1"/>
          <p:nvPr/>
        </p:nvSpPr>
        <p:spPr>
          <a:xfrm>
            <a:off x="457200" y="4754880"/>
            <a:ext cx="4572000" cy="274320"/>
          </a:xfrm>
          <a:prstGeom prst="rect">
            <a:avLst/>
          </a:prstGeom>
          <a:noFill/>
          <a:ln/>
        </p:spPr>
        <p:txBody>
          <a:bodyPr wrap="square" lIns="0" tIns="0" rIns="0" bIns="0" rtlCol="0" anchor="ctr"/>
          <a:lstStyle/>
          <a:p>
            <a:pPr indent="0" marL="0">
              <a:buNone/>
            </a:pPr>
            <a:r>
              <a:rPr lang="en-US" sz="900" dirty="0">
                <a:solidFill>
                  <a:srgbClr val="5A6270"/>
                </a:solidFill>
                <a:latin typeface="Calibri" pitchFamily="34" charset="0"/>
                <a:ea typeface="Calibri" pitchFamily="34" charset="-122"/>
                <a:cs typeface="Calibri" pitchFamily="34" charset="-120"/>
              </a:rPr>
              <a:t>Confidential  |  First-meeting proposal</a:t>
            </a:r>
            <a:endParaRPr lang="en-US" sz="900" dirty="0"/>
          </a:p>
        </p:txBody>
      </p:sp>
      <p:sp>
        <p:nvSpPr>
          <p:cNvPr id="4"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Contradictions need structure, not just search</a:t>
            </a:r>
            <a:endParaRPr lang="en-US" sz="2400" dirty="0"/>
          </a:p>
        </p:txBody>
      </p:sp>
      <p:sp>
        <p:nvSpPr>
          <p:cNvPr id="5" name="Text 3"/>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A6270"/>
                </a:solidFill>
                <a:latin typeface="Calibri" pitchFamily="34" charset="0"/>
                <a:ea typeface="Calibri" pitchFamily="34" charset="-122"/>
                <a:cs typeface="Calibri" pitchFamily="34" charset="-120"/>
              </a:rPr>
              <a:t>A claims ledger extracts every figure, date and term with its source, then compares like with like across the whole document set</a:t>
            </a:r>
            <a:endParaRPr lang="en-US" sz="1300" dirty="0"/>
          </a:p>
        </p:txBody>
      </p:sp>
      <p:pic>
        <p:nvPicPr>
          <p:cNvPr id="6" name="Image 0" descr="/home/user/CRM/proposal/diagrams/03_claims_ledger.png">    </p:cNvPr>
          <p:cNvPicPr>
            <a:picLocks noChangeAspect="1"/>
          </p:cNvPicPr>
          <p:nvPr/>
        </p:nvPicPr>
        <p:blipFill>
          <a:blip r:embed="rId1"/>
          <a:srcRect l="0" r="0" t="0" b="0"/>
          <a:stretch/>
        </p:blipFill>
        <p:spPr>
          <a:xfrm>
            <a:off x="457200" y="1188720"/>
            <a:ext cx="8229600" cy="34747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503920" y="4754880"/>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Calibri" pitchFamily="34" charset="0"/>
                <a:ea typeface="Calibri" pitchFamily="34" charset="-122"/>
                <a:cs typeface="Calibri" pitchFamily="34" charset="-120"/>
              </a:rPr>
              <a:t>9</a:t>
            </a:r>
            <a:endParaRPr lang="en-US" sz="900" dirty="0"/>
          </a:p>
        </p:txBody>
      </p:sp>
      <p:sp>
        <p:nvSpPr>
          <p:cNvPr id="3" name="Text 1"/>
          <p:cNvSpPr txBox="1"/>
          <p:nvPr/>
        </p:nvSpPr>
        <p:spPr>
          <a:xfrm>
            <a:off x="457200" y="4754880"/>
            <a:ext cx="4572000" cy="274320"/>
          </a:xfrm>
          <a:prstGeom prst="rect">
            <a:avLst/>
          </a:prstGeom>
          <a:noFill/>
          <a:ln/>
        </p:spPr>
        <p:txBody>
          <a:bodyPr wrap="square" lIns="0" tIns="0" rIns="0" bIns="0" rtlCol="0" anchor="ctr"/>
          <a:lstStyle/>
          <a:p>
            <a:pPr indent="0" marL="0">
              <a:buNone/>
            </a:pPr>
            <a:r>
              <a:rPr lang="en-US" sz="900" dirty="0">
                <a:solidFill>
                  <a:srgbClr val="5A6270"/>
                </a:solidFill>
                <a:latin typeface="Calibri" pitchFamily="34" charset="0"/>
                <a:ea typeface="Calibri" pitchFamily="34" charset="-122"/>
                <a:cs typeface="Calibri" pitchFamily="34" charset="-120"/>
              </a:rPr>
              <a:t>Confidential  |  First-meeting proposal</a:t>
            </a:r>
            <a:endParaRPr lang="en-US" sz="900" dirty="0"/>
          </a:p>
        </p:txBody>
      </p:sp>
      <p:sp>
        <p:nvSpPr>
          <p:cNvPr id="4"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System 2: pipelines per category</a:t>
            </a:r>
            <a:endParaRPr lang="en-US" sz="2400" dirty="0"/>
          </a:p>
        </p:txBody>
      </p:sp>
      <p:sp>
        <p:nvSpPr>
          <p:cNvPr id="5" name="Text 3"/>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A6270"/>
                </a:solidFill>
                <a:latin typeface="Calibri" pitchFamily="34" charset="0"/>
                <a:ea typeface="Calibri" pitchFamily="34" charset="-122"/>
                <a:cs typeface="Calibri" pitchFamily="34" charset="-120"/>
              </a:rPr>
              <a:t>Three categories with a GCC-specific path. Stages, SLAs and exit criteria are configuration; relationship managers see a board, leadership sees the whole picture</a:t>
            </a:r>
            <a:endParaRPr lang="en-US" sz="1300" dirty="0"/>
          </a:p>
        </p:txBody>
      </p:sp>
      <p:sp>
        <p:nvSpPr>
          <p:cNvPr id="6" name="Shape 4"/>
          <p:cNvSpPr/>
          <p:nvPr/>
        </p:nvSpPr>
        <p:spPr>
          <a:xfrm>
            <a:off x="457200" y="1325880"/>
            <a:ext cx="1115568" cy="685800"/>
          </a:xfrm>
          <a:prstGeom prst="chevron">
            <a:avLst/>
          </a:prstGeom>
          <a:solidFill>
            <a:srgbClr val="1C7293"/>
          </a:solidFill>
          <a:ln w="12700">
            <a:solidFill>
              <a:srgbClr val="FFFFFF"/>
            </a:solidFill>
            <a:prstDash val="solid"/>
          </a:ln>
        </p:spPr>
      </p:sp>
      <p:sp>
        <p:nvSpPr>
          <p:cNvPr id="7" name="Text 5"/>
          <p:cNvSpPr txBox="1"/>
          <p:nvPr/>
        </p:nvSpPr>
        <p:spPr>
          <a:xfrm>
            <a:off x="731520" y="1325880"/>
            <a:ext cx="694944" cy="68580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Introduction</a:t>
            </a:r>
            <a:endParaRPr lang="en-US" sz="750" dirty="0"/>
          </a:p>
        </p:txBody>
      </p:sp>
      <p:sp>
        <p:nvSpPr>
          <p:cNvPr id="8" name="Shape 6"/>
          <p:cNvSpPr/>
          <p:nvPr/>
        </p:nvSpPr>
        <p:spPr>
          <a:xfrm>
            <a:off x="1463040" y="1325880"/>
            <a:ext cx="1115568" cy="685800"/>
          </a:xfrm>
          <a:prstGeom prst="chevron">
            <a:avLst/>
          </a:prstGeom>
          <a:solidFill>
            <a:srgbClr val="1C7293"/>
          </a:solidFill>
          <a:ln w="12700">
            <a:solidFill>
              <a:srgbClr val="FFFFFF"/>
            </a:solidFill>
            <a:prstDash val="solid"/>
          </a:ln>
        </p:spPr>
      </p:sp>
      <p:sp>
        <p:nvSpPr>
          <p:cNvPr id="9" name="Text 7"/>
          <p:cNvSpPr txBox="1"/>
          <p:nvPr/>
        </p:nvSpPr>
        <p:spPr>
          <a:xfrm>
            <a:off x="1737360" y="1325880"/>
            <a:ext cx="694944" cy="68580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First meeting / majlis</a:t>
            </a:r>
            <a:endParaRPr lang="en-US" sz="750" dirty="0"/>
          </a:p>
        </p:txBody>
      </p:sp>
      <p:sp>
        <p:nvSpPr>
          <p:cNvPr id="10" name="Shape 8"/>
          <p:cNvSpPr/>
          <p:nvPr/>
        </p:nvSpPr>
        <p:spPr>
          <a:xfrm>
            <a:off x="2468880" y="1325880"/>
            <a:ext cx="1115568" cy="685800"/>
          </a:xfrm>
          <a:prstGeom prst="chevron">
            <a:avLst/>
          </a:prstGeom>
          <a:solidFill>
            <a:srgbClr val="1C7293"/>
          </a:solidFill>
          <a:ln w="12700">
            <a:solidFill>
              <a:srgbClr val="FFFFFF"/>
            </a:solidFill>
            <a:prstDash val="solid"/>
          </a:ln>
        </p:spPr>
      </p:sp>
      <p:sp>
        <p:nvSpPr>
          <p:cNvPr id="11" name="Text 9"/>
          <p:cNvSpPr txBox="1"/>
          <p:nvPr/>
        </p:nvSpPr>
        <p:spPr>
          <a:xfrm>
            <a:off x="2743200" y="1325880"/>
            <a:ext cx="694944" cy="68580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NDA</a:t>
            </a:r>
            <a:endParaRPr lang="en-US" sz="750" dirty="0"/>
          </a:p>
        </p:txBody>
      </p:sp>
      <p:sp>
        <p:nvSpPr>
          <p:cNvPr id="12" name="Shape 10"/>
          <p:cNvSpPr/>
          <p:nvPr/>
        </p:nvSpPr>
        <p:spPr>
          <a:xfrm>
            <a:off x="3474720" y="1325880"/>
            <a:ext cx="1115568" cy="685800"/>
          </a:xfrm>
          <a:prstGeom prst="chevron">
            <a:avLst/>
          </a:prstGeom>
          <a:solidFill>
            <a:srgbClr val="1C7293"/>
          </a:solidFill>
          <a:ln w="12700">
            <a:solidFill>
              <a:srgbClr val="FFFFFF"/>
            </a:solidFill>
            <a:prstDash val="solid"/>
          </a:ln>
        </p:spPr>
      </p:sp>
      <p:sp>
        <p:nvSpPr>
          <p:cNvPr id="13" name="Text 11"/>
          <p:cNvSpPr txBox="1"/>
          <p:nvPr/>
        </p:nvSpPr>
        <p:spPr>
          <a:xfrm>
            <a:off x="3749040" y="1325880"/>
            <a:ext cx="694944" cy="68580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Qualification</a:t>
            </a:r>
            <a:endParaRPr lang="en-US" sz="750" dirty="0"/>
          </a:p>
        </p:txBody>
      </p:sp>
      <p:sp>
        <p:nvSpPr>
          <p:cNvPr id="14" name="Shape 12"/>
          <p:cNvSpPr/>
          <p:nvPr/>
        </p:nvSpPr>
        <p:spPr>
          <a:xfrm>
            <a:off x="4480560" y="1325880"/>
            <a:ext cx="1115568" cy="685800"/>
          </a:xfrm>
          <a:prstGeom prst="chevron">
            <a:avLst/>
          </a:prstGeom>
          <a:solidFill>
            <a:srgbClr val="1E2761"/>
          </a:solidFill>
          <a:ln w="12700">
            <a:solidFill>
              <a:srgbClr val="FFFFFF"/>
            </a:solidFill>
            <a:prstDash val="solid"/>
          </a:ln>
        </p:spPr>
      </p:sp>
      <p:sp>
        <p:nvSpPr>
          <p:cNvPr id="15" name="Text 13"/>
          <p:cNvSpPr txBox="1"/>
          <p:nvPr/>
        </p:nvSpPr>
        <p:spPr>
          <a:xfrm>
            <a:off x="4754880" y="1325880"/>
            <a:ext cx="694944" cy="68580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Active discussion</a:t>
            </a:r>
            <a:endParaRPr lang="en-US" sz="750" dirty="0"/>
          </a:p>
        </p:txBody>
      </p:sp>
      <p:sp>
        <p:nvSpPr>
          <p:cNvPr id="16" name="Shape 14"/>
          <p:cNvSpPr/>
          <p:nvPr/>
        </p:nvSpPr>
        <p:spPr>
          <a:xfrm>
            <a:off x="5486400" y="1325880"/>
            <a:ext cx="1115568" cy="685800"/>
          </a:xfrm>
          <a:prstGeom prst="chevron">
            <a:avLst/>
          </a:prstGeom>
          <a:solidFill>
            <a:srgbClr val="1E2761"/>
          </a:solidFill>
          <a:ln w="12700">
            <a:solidFill>
              <a:srgbClr val="FFFFFF"/>
            </a:solidFill>
            <a:prstDash val="solid"/>
          </a:ln>
        </p:spPr>
      </p:sp>
      <p:sp>
        <p:nvSpPr>
          <p:cNvPr id="17" name="Text 15"/>
          <p:cNvSpPr txBox="1"/>
          <p:nvPr/>
        </p:nvSpPr>
        <p:spPr>
          <a:xfrm>
            <a:off x="5760720" y="1325880"/>
            <a:ext cx="694944" cy="68580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Term sheet / MoU</a:t>
            </a:r>
            <a:endParaRPr lang="en-US" sz="750" dirty="0"/>
          </a:p>
        </p:txBody>
      </p:sp>
      <p:sp>
        <p:nvSpPr>
          <p:cNvPr id="18" name="Shape 16"/>
          <p:cNvSpPr/>
          <p:nvPr/>
        </p:nvSpPr>
        <p:spPr>
          <a:xfrm>
            <a:off x="6492240" y="1325880"/>
            <a:ext cx="1115568" cy="685800"/>
          </a:xfrm>
          <a:prstGeom prst="chevron">
            <a:avLst/>
          </a:prstGeom>
          <a:solidFill>
            <a:srgbClr val="1E2761"/>
          </a:solidFill>
          <a:ln w="12700">
            <a:solidFill>
              <a:srgbClr val="FFFFFF"/>
            </a:solidFill>
            <a:prstDash val="solid"/>
          </a:ln>
        </p:spPr>
      </p:sp>
      <p:sp>
        <p:nvSpPr>
          <p:cNvPr id="19" name="Text 17"/>
          <p:cNvSpPr txBox="1"/>
          <p:nvPr/>
        </p:nvSpPr>
        <p:spPr>
          <a:xfrm>
            <a:off x="6766560" y="1325880"/>
            <a:ext cx="694944" cy="68580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Regulatory / board approval</a:t>
            </a:r>
            <a:endParaRPr lang="en-US" sz="750" dirty="0"/>
          </a:p>
        </p:txBody>
      </p:sp>
      <p:sp>
        <p:nvSpPr>
          <p:cNvPr id="20" name="Shape 18"/>
          <p:cNvSpPr/>
          <p:nvPr/>
        </p:nvSpPr>
        <p:spPr>
          <a:xfrm>
            <a:off x="7498080" y="1325880"/>
            <a:ext cx="1115568" cy="685800"/>
          </a:xfrm>
          <a:prstGeom prst="chevron">
            <a:avLst/>
          </a:prstGeom>
          <a:solidFill>
            <a:srgbClr val="1E2761"/>
          </a:solidFill>
          <a:ln w="12700">
            <a:solidFill>
              <a:srgbClr val="FFFFFF"/>
            </a:solidFill>
            <a:prstDash val="solid"/>
          </a:ln>
        </p:spPr>
      </p:sp>
      <p:sp>
        <p:nvSpPr>
          <p:cNvPr id="21" name="Text 19"/>
          <p:cNvSpPr txBox="1"/>
          <p:nvPr/>
        </p:nvSpPr>
        <p:spPr>
          <a:xfrm>
            <a:off x="7772400" y="1325880"/>
            <a:ext cx="694944" cy="68580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Signed</a:t>
            </a:r>
            <a:endParaRPr lang="en-US" sz="750" dirty="0"/>
          </a:p>
        </p:txBody>
      </p:sp>
      <p:sp>
        <p:nvSpPr>
          <p:cNvPr id="22" name="Text 20"/>
          <p:cNvSpPr txBox="1"/>
          <p:nvPr/>
        </p:nvSpPr>
        <p:spPr>
          <a:xfrm>
            <a:off x="457200" y="2057400"/>
            <a:ext cx="8229600" cy="274320"/>
          </a:xfrm>
          <a:prstGeom prst="rect">
            <a:avLst/>
          </a:prstGeom>
          <a:noFill/>
          <a:ln/>
        </p:spPr>
        <p:txBody>
          <a:bodyPr wrap="square" lIns="0" tIns="0" rIns="0" bIns="0" rtlCol="0" anchor="ctr"/>
          <a:lstStyle/>
          <a:p>
            <a:pPr indent="0" marL="0">
              <a:buNone/>
            </a:pPr>
            <a:r>
              <a:rPr lang="en-US" sz="1000" i="1" dirty="0">
                <a:solidFill>
                  <a:srgbClr val="5A6270"/>
                </a:solidFill>
                <a:latin typeface="Calibri" pitchFamily="34" charset="0"/>
                <a:ea typeface="Calibri" pitchFamily="34" charset="-122"/>
                <a:cs typeface="Calibri" pitchFamily="34" charset="-120"/>
              </a:rPr>
              <a:t>Example GCC investor pipeline (configurable). A 'Dormant' status can be applied at any stage and is reported separately.</a:t>
            </a:r>
            <a:endParaRPr lang="en-US" sz="1000" dirty="0"/>
          </a:p>
        </p:txBody>
      </p:sp>
      <p:sp>
        <p:nvSpPr>
          <p:cNvPr id="23" name="Shape 21"/>
          <p:cNvSpPr/>
          <p:nvPr/>
        </p:nvSpPr>
        <p:spPr>
          <a:xfrm>
            <a:off x="457200" y="2423160"/>
            <a:ext cx="2651760" cy="1508760"/>
          </a:xfrm>
          <a:prstGeom prst="roundRect">
            <a:avLst>
              <a:gd name="adj" fmla="val 4848"/>
            </a:avLst>
          </a:prstGeom>
          <a:solidFill>
            <a:srgbClr val="F7F8FB"/>
          </a:solidFill>
          <a:ln w="12700">
            <a:solidFill>
              <a:srgbClr val="F7F8FB"/>
            </a:solidFill>
            <a:prstDash val="solid"/>
          </a:ln>
          <a:effectLst>
            <a:outerShdw sx="100000" sy="100000" kx="0" ky="0" algn="bl" rotWithShape="0" blurRad="50800" dist="19050" dir="5400000">
              <a:srgbClr val="000000">
                <a:alpha val="12000"/>
              </a:srgbClr>
            </a:outerShdw>
          </a:effectLst>
        </p:spPr>
      </p:sp>
      <p:sp>
        <p:nvSpPr>
          <p:cNvPr id="24" name="Text 22"/>
          <p:cNvSpPr txBox="1"/>
          <p:nvPr/>
        </p:nvSpPr>
        <p:spPr>
          <a:xfrm>
            <a:off x="594360" y="2514600"/>
            <a:ext cx="2377440" cy="50292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Investors</a:t>
            </a:r>
            <a:endParaRPr lang="en-US" sz="1250" dirty="0"/>
          </a:p>
        </p:txBody>
      </p:sp>
      <p:sp>
        <p:nvSpPr>
          <p:cNvPr id="25" name="Text 23"/>
          <p:cNvSpPr txBox="1"/>
          <p:nvPr/>
        </p:nvSpPr>
        <p:spPr>
          <a:xfrm>
            <a:off x="594360" y="3044952"/>
            <a:ext cx="2377440" cy="795528"/>
          </a:xfrm>
          <a:prstGeom prst="rect">
            <a:avLst/>
          </a:prstGeom>
          <a:noFill/>
          <a:ln/>
        </p:spPr>
        <p:txBody>
          <a:bodyPr wrap="square" lIns="0" tIns="0" rIns="0" bIns="0" rtlCol="0" anchor="t"/>
          <a:lstStyle/>
          <a:p>
            <a:pPr indent="0" marL="0">
              <a:buNone/>
            </a:pPr>
            <a:r>
              <a:rPr lang="en-US" sz="1050" dirty="0">
                <a:solidFill>
                  <a:srgbClr val="333333"/>
                </a:solidFill>
                <a:latin typeface="Calibri" pitchFamily="34" charset="0"/>
                <a:ea typeface="Calibri" pitchFamily="34" charset="-122"/>
                <a:cs typeface="Calibri" pitchFamily="34" charset="-120"/>
              </a:rPr>
              <a:t>Sovereign and institutional funds, family offices, banks. Stages above. Fields: ticket size, mandate, KYC status, source of introduction.</a:t>
            </a:r>
            <a:endParaRPr lang="en-US" sz="1050" dirty="0"/>
          </a:p>
        </p:txBody>
      </p:sp>
      <p:sp>
        <p:nvSpPr>
          <p:cNvPr id="26" name="Shape 24"/>
          <p:cNvSpPr/>
          <p:nvPr/>
        </p:nvSpPr>
        <p:spPr>
          <a:xfrm>
            <a:off x="3246120" y="2423160"/>
            <a:ext cx="2651760" cy="1508760"/>
          </a:xfrm>
          <a:prstGeom prst="roundRect">
            <a:avLst>
              <a:gd name="adj" fmla="val 4848"/>
            </a:avLst>
          </a:prstGeom>
          <a:solidFill>
            <a:srgbClr val="EEF2FA"/>
          </a:solidFill>
          <a:ln w="12700">
            <a:solidFill>
              <a:srgbClr val="EEF2FA"/>
            </a:solidFill>
            <a:prstDash val="solid"/>
          </a:ln>
          <a:effectLst>
            <a:outerShdw sx="100000" sy="100000" kx="0" ky="0" algn="bl" rotWithShape="0" blurRad="50800" dist="19050" dir="5400000">
              <a:srgbClr val="000000">
                <a:alpha val="12000"/>
              </a:srgbClr>
            </a:outerShdw>
          </a:effectLst>
        </p:spPr>
      </p:sp>
      <p:sp>
        <p:nvSpPr>
          <p:cNvPr id="27" name="Text 25"/>
          <p:cNvSpPr txBox="1"/>
          <p:nvPr/>
        </p:nvSpPr>
        <p:spPr>
          <a:xfrm>
            <a:off x="3383280" y="2514600"/>
            <a:ext cx="2377440" cy="50292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Partners / counterparties</a:t>
            </a:r>
            <a:endParaRPr lang="en-US" sz="1250" dirty="0"/>
          </a:p>
        </p:txBody>
      </p:sp>
      <p:sp>
        <p:nvSpPr>
          <p:cNvPr id="28" name="Text 26"/>
          <p:cNvSpPr txBox="1"/>
          <p:nvPr/>
        </p:nvSpPr>
        <p:spPr>
          <a:xfrm>
            <a:off x="3383280" y="3044952"/>
            <a:ext cx="2377440" cy="795528"/>
          </a:xfrm>
          <a:prstGeom prst="rect">
            <a:avLst/>
          </a:prstGeom>
          <a:noFill/>
          <a:ln/>
        </p:spPr>
        <p:txBody>
          <a:bodyPr wrap="square" lIns="0" tIns="0" rIns="0" bIns="0" rtlCol="0" anchor="t"/>
          <a:lstStyle/>
          <a:p>
            <a:pPr indent="0" marL="0">
              <a:buNone/>
            </a:pPr>
            <a:r>
              <a:rPr lang="en-US" sz="1050" dirty="0">
                <a:solidFill>
                  <a:srgbClr val="333333"/>
                </a:solidFill>
                <a:latin typeface="Calibri" pitchFamily="34" charset="0"/>
                <a:ea typeface="Calibri" pitchFamily="34" charset="-122"/>
                <a:cs typeface="Calibri" pitchFamily="34" charset="-120"/>
              </a:rPr>
              <a:t>Suppliers, EPC contractors, JV partners, regulators. Stages: contact, qualification, negotiation, contracted, active, dormant. Links to contracts in System 1.</a:t>
            </a:r>
            <a:endParaRPr lang="en-US" sz="1050" dirty="0"/>
          </a:p>
        </p:txBody>
      </p:sp>
      <p:sp>
        <p:nvSpPr>
          <p:cNvPr id="29" name="Shape 27"/>
          <p:cNvSpPr/>
          <p:nvPr/>
        </p:nvSpPr>
        <p:spPr>
          <a:xfrm>
            <a:off x="6035040" y="2423160"/>
            <a:ext cx="2651760" cy="1508760"/>
          </a:xfrm>
          <a:prstGeom prst="roundRect">
            <a:avLst>
              <a:gd name="adj" fmla="val 4848"/>
            </a:avLst>
          </a:prstGeom>
          <a:solidFill>
            <a:srgbClr val="F7F8FB"/>
          </a:solidFill>
          <a:ln w="12700">
            <a:solidFill>
              <a:srgbClr val="F7F8FB"/>
            </a:solidFill>
            <a:prstDash val="solid"/>
          </a:ln>
          <a:effectLst>
            <a:outerShdw sx="100000" sy="100000" kx="0" ky="0" algn="bl" rotWithShape="0" blurRad="50800" dist="19050" dir="5400000">
              <a:srgbClr val="000000">
                <a:alpha val="12000"/>
              </a:srgbClr>
            </a:outerShdw>
          </a:effectLst>
        </p:spPr>
      </p:sp>
      <p:sp>
        <p:nvSpPr>
          <p:cNvPr id="30" name="Text 28"/>
          <p:cNvSpPr txBox="1"/>
          <p:nvPr/>
        </p:nvSpPr>
        <p:spPr>
          <a:xfrm>
            <a:off x="6172200" y="2514600"/>
            <a:ext cx="2377440" cy="50292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Customers / members</a:t>
            </a:r>
            <a:endParaRPr lang="en-US" sz="1250" dirty="0"/>
          </a:p>
        </p:txBody>
      </p:sp>
      <p:sp>
        <p:nvSpPr>
          <p:cNvPr id="31" name="Text 29"/>
          <p:cNvSpPr txBox="1"/>
          <p:nvPr/>
        </p:nvSpPr>
        <p:spPr>
          <a:xfrm>
            <a:off x="6172200" y="3044952"/>
            <a:ext cx="2377440" cy="795528"/>
          </a:xfrm>
          <a:prstGeom prst="rect">
            <a:avLst/>
          </a:prstGeom>
          <a:noFill/>
          <a:ln/>
        </p:spPr>
        <p:txBody>
          <a:bodyPr wrap="square" lIns="0" tIns="0" rIns="0" bIns="0" rtlCol="0" anchor="t"/>
          <a:lstStyle/>
          <a:p>
            <a:pPr indent="0" marL="0">
              <a:buNone/>
            </a:pPr>
            <a:r>
              <a:rPr lang="en-US" sz="1050" dirty="0">
                <a:solidFill>
                  <a:srgbClr val="333333"/>
                </a:solidFill>
                <a:latin typeface="Calibri" pitchFamily="34" charset="0"/>
                <a:ea typeface="Calibri" pitchFamily="34" charset="-122"/>
                <a:cs typeface="Calibri" pitchFamily="34" charset="-120"/>
              </a:rPr>
              <a:t>Clients and membership relationships. Stages: lead, onboarding, active, at risk, churned. Consent and preferred channel tracked.</a:t>
            </a:r>
            <a:endParaRPr lang="en-US" sz="1050" dirty="0"/>
          </a:p>
        </p:txBody>
      </p:sp>
      <p:sp>
        <p:nvSpPr>
          <p:cNvPr id="32" name="Text 30"/>
          <p:cNvSpPr txBox="1"/>
          <p:nvPr/>
        </p:nvSpPr>
        <p:spPr>
          <a:xfrm>
            <a:off x="457200" y="4023360"/>
            <a:ext cx="8229600" cy="6400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Follow-ups with due dates, owners and reminders to staff; overdue and stale relationships surface on the dashboard</a:t>
            </a:r>
            <a:endParaRPr lang="en-US" sz="1100" dirty="0"/>
          </a:p>
          <a:p>
            <a:pPr marL="342900" indent="-342900">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Full history: stage changes, meetings, calls, messages, attachments; attachments can feed System 1</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503920" y="4754880"/>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Calibri" pitchFamily="34" charset="0"/>
                <a:ea typeface="Calibri" pitchFamily="34" charset="-122"/>
                <a:cs typeface="Calibri" pitchFamily="34" charset="-120"/>
              </a:rPr>
              <a:t>10</a:t>
            </a:r>
            <a:endParaRPr lang="en-US" sz="900" dirty="0"/>
          </a:p>
        </p:txBody>
      </p:sp>
      <p:sp>
        <p:nvSpPr>
          <p:cNvPr id="3" name="Text 1"/>
          <p:cNvSpPr txBox="1"/>
          <p:nvPr/>
        </p:nvSpPr>
        <p:spPr>
          <a:xfrm>
            <a:off x="457200" y="4754880"/>
            <a:ext cx="4572000" cy="274320"/>
          </a:xfrm>
          <a:prstGeom prst="rect">
            <a:avLst/>
          </a:prstGeom>
          <a:noFill/>
          <a:ln/>
        </p:spPr>
        <p:txBody>
          <a:bodyPr wrap="square" lIns="0" tIns="0" rIns="0" bIns="0" rtlCol="0" anchor="ctr"/>
          <a:lstStyle/>
          <a:p>
            <a:pPr indent="0" marL="0">
              <a:buNone/>
            </a:pPr>
            <a:r>
              <a:rPr lang="en-US" sz="900" dirty="0">
                <a:solidFill>
                  <a:srgbClr val="5A6270"/>
                </a:solidFill>
                <a:latin typeface="Calibri" pitchFamily="34" charset="0"/>
                <a:ea typeface="Calibri" pitchFamily="34" charset="-122"/>
                <a:cs typeface="Calibri" pitchFamily="34" charset="-120"/>
              </a:rPr>
              <a:t>Confidential  |  First-meeting proposal</a:t>
            </a:r>
            <a:endParaRPr lang="en-US" sz="900" dirty="0"/>
          </a:p>
        </p:txBody>
      </p:sp>
      <p:sp>
        <p:nvSpPr>
          <p:cNvPr id="4"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Nothing leaves without a human's name on it</a:t>
            </a:r>
            <a:endParaRPr lang="en-US" sz="2400" dirty="0"/>
          </a:p>
        </p:txBody>
      </p:sp>
      <p:sp>
        <p:nvSpPr>
          <p:cNvPr id="5" name="Text 3"/>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A6270"/>
                </a:solidFill>
                <a:latin typeface="Calibri" pitchFamily="34" charset="0"/>
                <a:ea typeface="Calibri" pitchFamily="34" charset="-122"/>
                <a:cs typeface="Calibri" pitchFamily="34" charset="-120"/>
              </a:rPr>
              <a:t>The approval gate is enforced in the database, not just the screen: drafter cannot approve, and there is no scheduled-send path in the code</a:t>
            </a:r>
            <a:endParaRPr lang="en-US" sz="1300" dirty="0"/>
          </a:p>
        </p:txBody>
      </p:sp>
      <p:pic>
        <p:nvPicPr>
          <p:cNvPr id="6" name="Image 0" descr="/home/user/CRM/proposal/diagrams/04_crm_approval_flow.png">    </p:cNvPr>
          <p:cNvPicPr>
            <a:picLocks noChangeAspect="1"/>
          </p:cNvPicPr>
          <p:nvPr/>
        </p:nvPicPr>
        <p:blipFill>
          <a:blip r:embed="rId1"/>
          <a:srcRect l="0" r="0" t="0" b="0"/>
          <a:stretch/>
        </p:blipFill>
        <p:spPr>
          <a:xfrm>
            <a:off x="457200" y="1188720"/>
            <a:ext cx="8229600" cy="34747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503920" y="4754880"/>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Calibri" pitchFamily="34" charset="0"/>
                <a:ea typeface="Calibri" pitchFamily="34" charset="-122"/>
                <a:cs typeface="Calibri" pitchFamily="34" charset="-120"/>
              </a:rPr>
              <a:t>11</a:t>
            </a:r>
            <a:endParaRPr lang="en-US" sz="900" dirty="0"/>
          </a:p>
        </p:txBody>
      </p:sp>
      <p:sp>
        <p:nvSpPr>
          <p:cNvPr id="3" name="Text 1"/>
          <p:cNvSpPr txBox="1"/>
          <p:nvPr/>
        </p:nvSpPr>
        <p:spPr>
          <a:xfrm>
            <a:off x="457200" y="4754880"/>
            <a:ext cx="4572000" cy="274320"/>
          </a:xfrm>
          <a:prstGeom prst="rect">
            <a:avLst/>
          </a:prstGeom>
          <a:noFill/>
          <a:ln/>
        </p:spPr>
        <p:txBody>
          <a:bodyPr wrap="square" lIns="0" tIns="0" rIns="0" bIns="0" rtlCol="0" anchor="ctr"/>
          <a:lstStyle/>
          <a:p>
            <a:pPr indent="0" marL="0">
              <a:buNone/>
            </a:pPr>
            <a:r>
              <a:rPr lang="en-US" sz="900" dirty="0">
                <a:solidFill>
                  <a:srgbClr val="5A6270"/>
                </a:solidFill>
                <a:latin typeface="Calibri" pitchFamily="34" charset="0"/>
                <a:ea typeface="Calibri" pitchFamily="34" charset="-122"/>
                <a:cs typeface="Calibri" pitchFamily="34" charset="-120"/>
              </a:rPr>
              <a:t>Confidential  |  First-meeting proposal</a:t>
            </a:r>
            <a:endParaRPr lang="en-US" sz="900" dirty="0"/>
          </a:p>
        </p:txBody>
      </p:sp>
      <p:sp>
        <p:nvSpPr>
          <p:cNvPr id="4"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Data residency is a policy setting, not a rebuild</a:t>
            </a:r>
            <a:endParaRPr lang="en-US" sz="2400" dirty="0"/>
          </a:p>
        </p:txBody>
      </p:sp>
      <p:sp>
        <p:nvSpPr>
          <p:cNvPr id="5" name="Text 3"/>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A6270"/>
                </a:solidFill>
                <a:latin typeface="Calibri" pitchFamily="34" charset="0"/>
                <a:ea typeface="Calibri" pitchFamily="34" charset="-122"/>
                <a:cs typeface="Calibri" pitchFamily="34" charset="-120"/>
              </a:rPr>
              <a:t>Data at rest in a GCC region from day one; AI processing routed by classification; a fully sovereign option designed in</a:t>
            </a:r>
            <a:endParaRPr lang="en-US" sz="1300" dirty="0"/>
          </a:p>
        </p:txBody>
      </p:sp>
      <p:pic>
        <p:nvPicPr>
          <p:cNvPr id="6" name="Image 0" descr="/home/user/CRM/proposal/diagrams/05_residency_patterns.png">    </p:cNvPr>
          <p:cNvPicPr>
            <a:picLocks noChangeAspect="1"/>
          </p:cNvPicPr>
          <p:nvPr/>
        </p:nvPicPr>
        <p:blipFill>
          <a:blip r:embed="rId1"/>
          <a:srcRect l="0" r="0" t="0" b="0"/>
          <a:stretch/>
        </p:blipFill>
        <p:spPr>
          <a:xfrm>
            <a:off x="457200" y="1188720"/>
            <a:ext cx="8229600" cy="34747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503920" y="4754880"/>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Calibri" pitchFamily="34" charset="0"/>
                <a:ea typeface="Calibri" pitchFamily="34" charset="-122"/>
                <a:cs typeface="Calibri" pitchFamily="34" charset="-120"/>
              </a:rPr>
              <a:t>12</a:t>
            </a:r>
            <a:endParaRPr lang="en-US" sz="900" dirty="0"/>
          </a:p>
        </p:txBody>
      </p:sp>
      <p:sp>
        <p:nvSpPr>
          <p:cNvPr id="3" name="Text 1"/>
          <p:cNvSpPr txBox="1"/>
          <p:nvPr/>
        </p:nvSpPr>
        <p:spPr>
          <a:xfrm>
            <a:off x="457200" y="4754880"/>
            <a:ext cx="4572000" cy="274320"/>
          </a:xfrm>
          <a:prstGeom prst="rect">
            <a:avLst/>
          </a:prstGeom>
          <a:noFill/>
          <a:ln/>
        </p:spPr>
        <p:txBody>
          <a:bodyPr wrap="square" lIns="0" tIns="0" rIns="0" bIns="0" rtlCol="0" anchor="ctr"/>
          <a:lstStyle/>
          <a:p>
            <a:pPr indent="0" marL="0">
              <a:buNone/>
            </a:pPr>
            <a:r>
              <a:rPr lang="en-US" sz="900" dirty="0">
                <a:solidFill>
                  <a:srgbClr val="5A6270"/>
                </a:solidFill>
                <a:latin typeface="Calibri" pitchFamily="34" charset="0"/>
                <a:ea typeface="Calibri" pitchFamily="34" charset="-122"/>
                <a:cs typeface="Calibri" pitchFamily="34" charset="-120"/>
              </a:rPr>
              <a:t>Confidential  |  First-meeting proposal</a:t>
            </a:r>
            <a:endParaRPr lang="en-US" sz="900" dirty="0"/>
          </a:p>
        </p:txBody>
      </p:sp>
      <p:sp>
        <p:nvSpPr>
          <p:cNvPr id="4"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Security, audit and AI governance</a:t>
            </a:r>
            <a:endParaRPr lang="en-US" sz="2400" dirty="0"/>
          </a:p>
        </p:txBody>
      </p:sp>
      <p:sp>
        <p:nvSpPr>
          <p:cNvPr id="5" name="Text 3"/>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A6270"/>
                </a:solidFill>
                <a:latin typeface="Calibri" pitchFamily="34" charset="0"/>
                <a:ea typeface="Calibri" pitchFamily="34" charset="-122"/>
                <a:cs typeface="Calibri" pitchFamily="34" charset="-120"/>
              </a:rPr>
              <a:t>Designed so every action is attributable and every answer is checkable</a:t>
            </a:r>
            <a:endParaRPr lang="en-US" sz="1300" dirty="0"/>
          </a:p>
        </p:txBody>
      </p:sp>
      <p:sp>
        <p:nvSpPr>
          <p:cNvPr id="6" name="Shape 4"/>
          <p:cNvSpPr/>
          <p:nvPr/>
        </p:nvSpPr>
        <p:spPr>
          <a:xfrm>
            <a:off x="457200" y="1325880"/>
            <a:ext cx="457200" cy="457200"/>
          </a:xfrm>
          <a:prstGeom prst="ellipse">
            <a:avLst/>
          </a:prstGeom>
          <a:solidFill>
            <a:srgbClr val="1C7293"/>
          </a:solidFill>
          <a:ln w="12700">
            <a:solidFill>
              <a:srgbClr val="FFFFFF"/>
            </a:solidFill>
            <a:prstDash val="solid"/>
          </a:ln>
        </p:spPr>
      </p:sp>
      <p:sp>
        <p:nvSpPr>
          <p:cNvPr id="7" name="Text 5"/>
          <p:cNvSpPr txBox="1"/>
          <p:nvPr/>
        </p:nvSpPr>
        <p:spPr>
          <a:xfrm>
            <a:off x="457200" y="13258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a:t>
            </a:r>
            <a:endParaRPr lang="en-US" sz="1400" dirty="0"/>
          </a:p>
        </p:txBody>
      </p:sp>
      <p:sp>
        <p:nvSpPr>
          <p:cNvPr id="8" name="Text 6"/>
          <p:cNvSpPr txBox="1"/>
          <p:nvPr/>
        </p:nvSpPr>
        <p:spPr>
          <a:xfrm>
            <a:off x="1051560" y="1280160"/>
            <a:ext cx="347472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Single sign-on and roles</a:t>
            </a:r>
            <a:endParaRPr lang="en-US" sz="1300" dirty="0"/>
          </a:p>
        </p:txBody>
      </p:sp>
      <p:sp>
        <p:nvSpPr>
          <p:cNvPr id="9" name="Text 7"/>
          <p:cNvSpPr txBox="1"/>
          <p:nvPr/>
        </p:nvSpPr>
        <p:spPr>
          <a:xfrm>
            <a:off x="1051560" y="1572768"/>
            <a:ext cx="3474720" cy="731520"/>
          </a:xfrm>
          <a:prstGeom prst="rect">
            <a:avLst/>
          </a:prstGeom>
          <a:noFill/>
          <a:ln/>
        </p:spPr>
        <p:txBody>
          <a:bodyPr wrap="square" lIns="0" tIns="0" rIns="0" bIns="0" rtlCol="0" anchor="t"/>
          <a:lstStyle/>
          <a:p>
            <a:pPr indent="0" marL="0">
              <a:buNone/>
            </a:pPr>
            <a:r>
              <a:rPr lang="en-US" sz="1050" dirty="0">
                <a:solidFill>
                  <a:srgbClr val="444444"/>
                </a:solidFill>
                <a:latin typeface="Calibri" pitchFamily="34" charset="0"/>
                <a:ea typeface="Calibri" pitchFamily="34" charset="-122"/>
                <a:cs typeface="Calibri" pitchFamily="34" charset="-120"/>
              </a:rPr>
              <a:t>Your identity provider, multi-factor authentication, roles scoped by category or business unit.</a:t>
            </a:r>
            <a:endParaRPr lang="en-US" sz="1050" dirty="0"/>
          </a:p>
        </p:txBody>
      </p:sp>
      <p:sp>
        <p:nvSpPr>
          <p:cNvPr id="10" name="Shape 8"/>
          <p:cNvSpPr/>
          <p:nvPr/>
        </p:nvSpPr>
        <p:spPr>
          <a:xfrm>
            <a:off x="4709160" y="1325880"/>
            <a:ext cx="457200" cy="457200"/>
          </a:xfrm>
          <a:prstGeom prst="ellipse">
            <a:avLst/>
          </a:prstGeom>
          <a:solidFill>
            <a:srgbClr val="C9A227"/>
          </a:solidFill>
          <a:ln w="12700">
            <a:solidFill>
              <a:srgbClr val="FFFFFF"/>
            </a:solidFill>
            <a:prstDash val="solid"/>
          </a:ln>
        </p:spPr>
      </p:sp>
      <p:sp>
        <p:nvSpPr>
          <p:cNvPr id="11" name="Text 9"/>
          <p:cNvSpPr txBox="1"/>
          <p:nvPr/>
        </p:nvSpPr>
        <p:spPr>
          <a:xfrm>
            <a:off x="4709160" y="13258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2" name="Text 10"/>
          <p:cNvSpPr txBox="1"/>
          <p:nvPr/>
        </p:nvSpPr>
        <p:spPr>
          <a:xfrm>
            <a:off x="5303520" y="1280160"/>
            <a:ext cx="347472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Access before retrieval</a:t>
            </a:r>
            <a:endParaRPr lang="en-US" sz="1300" dirty="0"/>
          </a:p>
        </p:txBody>
      </p:sp>
      <p:sp>
        <p:nvSpPr>
          <p:cNvPr id="13" name="Text 11"/>
          <p:cNvSpPr txBox="1"/>
          <p:nvPr/>
        </p:nvSpPr>
        <p:spPr>
          <a:xfrm>
            <a:off x="5303520" y="1572768"/>
            <a:ext cx="3474720" cy="731520"/>
          </a:xfrm>
          <a:prstGeom prst="rect">
            <a:avLst/>
          </a:prstGeom>
          <a:noFill/>
          <a:ln/>
        </p:spPr>
        <p:txBody>
          <a:bodyPr wrap="square" lIns="0" tIns="0" rIns="0" bIns="0" rtlCol="0" anchor="t"/>
          <a:lstStyle/>
          <a:p>
            <a:pPr indent="0" marL="0">
              <a:buNone/>
            </a:pPr>
            <a:r>
              <a:rPr lang="en-US" sz="1050" dirty="0">
                <a:solidFill>
                  <a:srgbClr val="444444"/>
                </a:solidFill>
                <a:latin typeface="Calibri" pitchFamily="34" charset="0"/>
                <a:ea typeface="Calibri" pitchFamily="34" charset="-122"/>
                <a:cs typeface="Calibri" pitchFamily="34" charset="-120"/>
              </a:rPr>
              <a:t>Per-document access lists are applied inside the search; the model never sees a passage the user cannot open.</a:t>
            </a:r>
            <a:endParaRPr lang="en-US" sz="1050" dirty="0"/>
          </a:p>
        </p:txBody>
      </p:sp>
      <p:sp>
        <p:nvSpPr>
          <p:cNvPr id="14" name="Shape 12"/>
          <p:cNvSpPr/>
          <p:nvPr/>
        </p:nvSpPr>
        <p:spPr>
          <a:xfrm>
            <a:off x="457200" y="2423160"/>
            <a:ext cx="457200" cy="457200"/>
          </a:xfrm>
          <a:prstGeom prst="ellipse">
            <a:avLst/>
          </a:prstGeom>
          <a:solidFill>
            <a:srgbClr val="1C7293"/>
          </a:solidFill>
          <a:ln w="12700">
            <a:solidFill>
              <a:srgbClr val="FFFFFF"/>
            </a:solidFill>
            <a:prstDash val="solid"/>
          </a:ln>
        </p:spPr>
      </p:sp>
      <p:sp>
        <p:nvSpPr>
          <p:cNvPr id="15" name="Text 13"/>
          <p:cNvSpPr txBox="1"/>
          <p:nvPr/>
        </p:nvSpPr>
        <p:spPr>
          <a:xfrm>
            <a:off x="457200" y="2423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a:t>
            </a:r>
            <a:endParaRPr lang="en-US" sz="1400" dirty="0"/>
          </a:p>
        </p:txBody>
      </p:sp>
      <p:sp>
        <p:nvSpPr>
          <p:cNvPr id="16" name="Text 14"/>
          <p:cNvSpPr txBox="1"/>
          <p:nvPr/>
        </p:nvSpPr>
        <p:spPr>
          <a:xfrm>
            <a:off x="1051560" y="2377440"/>
            <a:ext cx="347472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Immutable audit trail</a:t>
            </a:r>
            <a:endParaRPr lang="en-US" sz="1300" dirty="0"/>
          </a:p>
        </p:txBody>
      </p:sp>
      <p:sp>
        <p:nvSpPr>
          <p:cNvPr id="17" name="Text 15"/>
          <p:cNvSpPr txBox="1"/>
          <p:nvPr/>
        </p:nvSpPr>
        <p:spPr>
          <a:xfrm>
            <a:off x="1051560" y="2670048"/>
            <a:ext cx="3474720" cy="731520"/>
          </a:xfrm>
          <a:prstGeom prst="rect">
            <a:avLst/>
          </a:prstGeom>
          <a:noFill/>
          <a:ln/>
        </p:spPr>
        <p:txBody>
          <a:bodyPr wrap="square" lIns="0" tIns="0" rIns="0" bIns="0" rtlCol="0" anchor="t"/>
          <a:lstStyle/>
          <a:p>
            <a:pPr indent="0" marL="0">
              <a:buNone/>
            </a:pPr>
            <a:r>
              <a:rPr lang="en-US" sz="1050" dirty="0">
                <a:solidFill>
                  <a:srgbClr val="444444"/>
                </a:solidFill>
                <a:latin typeface="Calibri" pitchFamily="34" charset="0"/>
                <a:ea typeface="Calibri" pitchFamily="34" charset="-122"/>
                <a:cs typeface="Calibri" pitchFamily="34" charset="-120"/>
              </a:rPr>
              <a:t>Every view, question, answer, finding, approval and send is logged with hash chaining; exportable to your SIEM.</a:t>
            </a:r>
            <a:endParaRPr lang="en-US" sz="1050" dirty="0"/>
          </a:p>
        </p:txBody>
      </p:sp>
      <p:sp>
        <p:nvSpPr>
          <p:cNvPr id="18" name="Shape 16"/>
          <p:cNvSpPr/>
          <p:nvPr/>
        </p:nvSpPr>
        <p:spPr>
          <a:xfrm>
            <a:off x="4709160" y="2423160"/>
            <a:ext cx="457200" cy="457200"/>
          </a:xfrm>
          <a:prstGeom prst="ellipse">
            <a:avLst/>
          </a:prstGeom>
          <a:solidFill>
            <a:srgbClr val="C9A227"/>
          </a:solidFill>
          <a:ln w="12700">
            <a:solidFill>
              <a:srgbClr val="FFFFFF"/>
            </a:solidFill>
            <a:prstDash val="solid"/>
          </a:ln>
        </p:spPr>
      </p:sp>
      <p:sp>
        <p:nvSpPr>
          <p:cNvPr id="19" name="Text 17"/>
          <p:cNvSpPr txBox="1"/>
          <p:nvPr/>
        </p:nvSpPr>
        <p:spPr>
          <a:xfrm>
            <a:off x="4709160" y="2423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a:t>
            </a:r>
            <a:endParaRPr lang="en-US" sz="1400" dirty="0"/>
          </a:p>
        </p:txBody>
      </p:sp>
      <p:sp>
        <p:nvSpPr>
          <p:cNvPr id="20" name="Text 18"/>
          <p:cNvSpPr txBox="1"/>
          <p:nvPr/>
        </p:nvSpPr>
        <p:spPr>
          <a:xfrm>
            <a:off x="5303520" y="2377440"/>
            <a:ext cx="347472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No training on your data</a:t>
            </a:r>
            <a:endParaRPr lang="en-US" sz="1300" dirty="0"/>
          </a:p>
        </p:txBody>
      </p:sp>
      <p:sp>
        <p:nvSpPr>
          <p:cNvPr id="21" name="Text 19"/>
          <p:cNvSpPr txBox="1"/>
          <p:nvPr/>
        </p:nvSpPr>
        <p:spPr>
          <a:xfrm>
            <a:off x="5303520" y="2670048"/>
            <a:ext cx="3474720" cy="731520"/>
          </a:xfrm>
          <a:prstGeom prst="rect">
            <a:avLst/>
          </a:prstGeom>
          <a:noFill/>
          <a:ln/>
        </p:spPr>
        <p:txBody>
          <a:bodyPr wrap="square" lIns="0" tIns="0" rIns="0" bIns="0" rtlCol="0" anchor="t"/>
          <a:lstStyle/>
          <a:p>
            <a:pPr indent="0" marL="0">
              <a:buNone/>
            </a:pPr>
            <a:r>
              <a:rPr lang="en-US" sz="1050" dirty="0">
                <a:solidFill>
                  <a:srgbClr val="444444"/>
                </a:solidFill>
                <a:latin typeface="Calibri" pitchFamily="34" charset="0"/>
                <a:ea typeface="Calibri" pitchFamily="34" charset="-122"/>
                <a:cs typeface="Calibri" pitchFamily="34" charset="-120"/>
              </a:rPr>
              <a:t>Enterprise terms with providers; zero or limited retention where offered; self-hosting removes third parties entirely.</a:t>
            </a:r>
            <a:endParaRPr lang="en-US" sz="1050" dirty="0"/>
          </a:p>
        </p:txBody>
      </p:sp>
      <p:sp>
        <p:nvSpPr>
          <p:cNvPr id="22" name="Shape 20"/>
          <p:cNvSpPr/>
          <p:nvPr/>
        </p:nvSpPr>
        <p:spPr>
          <a:xfrm>
            <a:off x="457200" y="3520440"/>
            <a:ext cx="457200" cy="457200"/>
          </a:xfrm>
          <a:prstGeom prst="ellipse">
            <a:avLst/>
          </a:prstGeom>
          <a:solidFill>
            <a:srgbClr val="1C7293"/>
          </a:solidFill>
          <a:ln w="12700">
            <a:solidFill>
              <a:srgbClr val="FFFFFF"/>
            </a:solidFill>
            <a:prstDash val="solid"/>
          </a:ln>
        </p:spPr>
      </p:sp>
      <p:sp>
        <p:nvSpPr>
          <p:cNvPr id="23" name="Text 2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
            </a:r>
            <a:endParaRPr lang="en-US" sz="1400" dirty="0"/>
          </a:p>
        </p:txBody>
      </p:sp>
      <p:sp>
        <p:nvSpPr>
          <p:cNvPr id="24" name="Text 22"/>
          <p:cNvSpPr txBox="1"/>
          <p:nvPr/>
        </p:nvSpPr>
        <p:spPr>
          <a:xfrm>
            <a:off x="1051560" y="3474720"/>
            <a:ext cx="347472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Measured accuracy</a:t>
            </a:r>
            <a:endParaRPr lang="en-US" sz="1300" dirty="0"/>
          </a:p>
        </p:txBody>
      </p:sp>
      <p:sp>
        <p:nvSpPr>
          <p:cNvPr id="25" name="Text 23"/>
          <p:cNvSpPr txBox="1"/>
          <p:nvPr/>
        </p:nvSpPr>
        <p:spPr>
          <a:xfrm>
            <a:off x="1051560" y="3767328"/>
            <a:ext cx="3474720" cy="731520"/>
          </a:xfrm>
          <a:prstGeom prst="rect">
            <a:avLst/>
          </a:prstGeom>
          <a:noFill/>
          <a:ln/>
        </p:spPr>
        <p:txBody>
          <a:bodyPr wrap="square" lIns="0" tIns="0" rIns="0" bIns="0" rtlCol="0" anchor="t"/>
          <a:lstStyle/>
          <a:p>
            <a:pPr indent="0" marL="0">
              <a:buNone/>
            </a:pPr>
            <a:r>
              <a:rPr lang="en-US" sz="1050" dirty="0">
                <a:solidFill>
                  <a:srgbClr val="444444"/>
                </a:solidFill>
                <a:latin typeface="Calibri" pitchFamily="34" charset="0"/>
                <a:ea typeface="Calibri" pitchFamily="34" charset="-122"/>
                <a:cs typeface="Calibri" pitchFamily="34" charset="-120"/>
              </a:rPr>
              <a:t>A golden question set agreed with you; every release scored on faithfulness, citations, extraction precision and correct refusals.</a:t>
            </a:r>
            <a:endParaRPr lang="en-US" sz="1050" dirty="0"/>
          </a:p>
        </p:txBody>
      </p:sp>
      <p:sp>
        <p:nvSpPr>
          <p:cNvPr id="26" name="Shape 24"/>
          <p:cNvSpPr/>
          <p:nvPr/>
        </p:nvSpPr>
        <p:spPr>
          <a:xfrm>
            <a:off x="4709160" y="3520440"/>
            <a:ext cx="457200" cy="457200"/>
          </a:xfrm>
          <a:prstGeom prst="ellipse">
            <a:avLst/>
          </a:prstGeom>
          <a:solidFill>
            <a:srgbClr val="C9A227"/>
          </a:solidFill>
          <a:ln w="12700">
            <a:solidFill>
              <a:srgbClr val="FFFFFF"/>
            </a:solidFill>
            <a:prstDash val="solid"/>
          </a:ln>
        </p:spPr>
      </p:sp>
      <p:sp>
        <p:nvSpPr>
          <p:cNvPr id="27" name="Text 25"/>
          <p:cNvSpPr txBox="1"/>
          <p:nvPr/>
        </p:nvSpPr>
        <p:spPr>
          <a:xfrm>
            <a:off x="470916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8" name="Text 26"/>
          <p:cNvSpPr txBox="1"/>
          <p:nvPr/>
        </p:nvSpPr>
        <p:spPr>
          <a:xfrm>
            <a:off x="5303520" y="3474720"/>
            <a:ext cx="347472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Compliance by design</a:t>
            </a:r>
            <a:endParaRPr lang="en-US" sz="1300" dirty="0"/>
          </a:p>
        </p:txBody>
      </p:sp>
      <p:sp>
        <p:nvSpPr>
          <p:cNvPr id="29" name="Text 27"/>
          <p:cNvSpPr txBox="1"/>
          <p:nvPr/>
        </p:nvSpPr>
        <p:spPr>
          <a:xfrm>
            <a:off x="5303520" y="3767328"/>
            <a:ext cx="3474720" cy="731520"/>
          </a:xfrm>
          <a:prstGeom prst="rect">
            <a:avLst/>
          </a:prstGeom>
          <a:noFill/>
          <a:ln/>
        </p:spPr>
        <p:txBody>
          <a:bodyPr wrap="square" lIns="0" tIns="0" rIns="0" bIns="0" rtlCol="0" anchor="t"/>
          <a:lstStyle/>
          <a:p>
            <a:pPr indent="0" marL="0">
              <a:buNone/>
            </a:pPr>
            <a:r>
              <a:rPr lang="en-US" sz="1050" dirty="0">
                <a:solidFill>
                  <a:srgbClr val="444444"/>
                </a:solidFill>
                <a:latin typeface="Calibri" pitchFamily="34" charset="0"/>
                <a:ea typeface="Calibri" pitchFamily="34" charset="-122"/>
                <a:cs typeface="Calibri" pitchFamily="34" charset="-120"/>
              </a:rPr>
              <a:t>Consent and lawful basis per contact; residency per jurisdiction; retention and deletion; supports Saudi PDPL, UAE PDPL, DIFC and ADGM regimes.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503920" y="4754880"/>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Calibri" pitchFamily="34" charset="0"/>
                <a:ea typeface="Calibri" pitchFamily="34" charset="-122"/>
                <a:cs typeface="Calibri" pitchFamily="34" charset="-120"/>
              </a:rPr>
              <a:t>13</a:t>
            </a:r>
            <a:endParaRPr lang="en-US" sz="900" dirty="0"/>
          </a:p>
        </p:txBody>
      </p:sp>
      <p:sp>
        <p:nvSpPr>
          <p:cNvPr id="3" name="Text 1"/>
          <p:cNvSpPr txBox="1"/>
          <p:nvPr/>
        </p:nvSpPr>
        <p:spPr>
          <a:xfrm>
            <a:off x="457200" y="4754880"/>
            <a:ext cx="4572000" cy="274320"/>
          </a:xfrm>
          <a:prstGeom prst="rect">
            <a:avLst/>
          </a:prstGeom>
          <a:noFill/>
          <a:ln/>
        </p:spPr>
        <p:txBody>
          <a:bodyPr wrap="square" lIns="0" tIns="0" rIns="0" bIns="0" rtlCol="0" anchor="ctr"/>
          <a:lstStyle/>
          <a:p>
            <a:pPr indent="0" marL="0">
              <a:buNone/>
            </a:pPr>
            <a:r>
              <a:rPr lang="en-US" sz="900" dirty="0">
                <a:solidFill>
                  <a:srgbClr val="5A6270"/>
                </a:solidFill>
                <a:latin typeface="Calibri" pitchFamily="34" charset="0"/>
                <a:ea typeface="Calibri" pitchFamily="34" charset="-122"/>
                <a:cs typeface="Calibri" pitchFamily="34" charset="-120"/>
              </a:rPr>
              <a:t>Confidential  |  First-meeting proposal</a:t>
            </a:r>
            <a:endParaRPr lang="en-US" sz="900" dirty="0"/>
          </a:p>
        </p:txBody>
      </p:sp>
      <p:sp>
        <p:nvSpPr>
          <p:cNvPr id="4"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Plugging in real data later, without a rebuild</a:t>
            </a:r>
            <a:endParaRPr lang="en-US" sz="2400" dirty="0"/>
          </a:p>
        </p:txBody>
      </p:sp>
      <p:sp>
        <p:nvSpPr>
          <p:cNvPr id="5" name="Text 3"/>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A6270"/>
                </a:solidFill>
                <a:latin typeface="Calibri" pitchFamily="34" charset="0"/>
                <a:ea typeface="Calibri" pitchFamily="34" charset="-122"/>
                <a:cs typeface="Calibri" pitchFamily="34" charset="-120"/>
              </a:rPr>
              <a:t>Five mechanisms make this a commitment we can keep</a:t>
            </a:r>
            <a:endParaRPr lang="en-US" sz="1300" dirty="0"/>
          </a:p>
        </p:txBody>
      </p:sp>
      <p:sp>
        <p:nvSpPr>
          <p:cNvPr id="6" name="Shape 4"/>
          <p:cNvSpPr/>
          <p:nvPr/>
        </p:nvSpPr>
        <p:spPr>
          <a:xfrm>
            <a:off x="457200" y="1280160"/>
            <a:ext cx="2651760" cy="1508760"/>
          </a:xfrm>
          <a:prstGeom prst="roundRect">
            <a:avLst>
              <a:gd name="adj" fmla="val 4848"/>
            </a:avLst>
          </a:prstGeom>
          <a:solidFill>
            <a:srgbClr val="F7F8FB"/>
          </a:solidFill>
          <a:ln w="12700">
            <a:solidFill>
              <a:srgbClr val="F7F8FB"/>
            </a:solidFill>
            <a:prstDash val="solid"/>
          </a:ln>
          <a:effectLst>
            <a:outerShdw sx="100000" sy="100000" kx="0" ky="0" algn="bl" rotWithShape="0" blurRad="50800" dist="19050" dir="5400000">
              <a:srgbClr val="000000">
                <a:alpha val="12000"/>
              </a:srgbClr>
            </a:outerShdw>
          </a:effectLst>
        </p:spPr>
      </p:sp>
      <p:sp>
        <p:nvSpPr>
          <p:cNvPr id="7" name="Text 5"/>
          <p:cNvSpPr txBox="1"/>
          <p:nvPr/>
        </p:nvSpPr>
        <p:spPr>
          <a:xfrm>
            <a:off x="594360" y="1371600"/>
            <a:ext cx="2377440" cy="50292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1. Schema-first with custom fields</a:t>
            </a:r>
            <a:endParaRPr lang="en-US" sz="1250" dirty="0"/>
          </a:p>
        </p:txBody>
      </p:sp>
      <p:sp>
        <p:nvSpPr>
          <p:cNvPr id="8" name="Text 6"/>
          <p:cNvSpPr txBox="1"/>
          <p:nvPr/>
        </p:nvSpPr>
        <p:spPr>
          <a:xfrm>
            <a:off x="594360" y="1901952"/>
            <a:ext cx="2377440" cy="795528"/>
          </a:xfrm>
          <a:prstGeom prst="rect">
            <a:avLst/>
          </a:prstGeom>
          <a:noFill/>
          <a:ln/>
        </p:spPr>
        <p:txBody>
          <a:bodyPr wrap="square" lIns="0" tIns="0" rIns="0" bIns="0" rtlCol="0" anchor="t"/>
          <a:lstStyle/>
          <a:p>
            <a:pPr indent="0" marL="0">
              <a:buNone/>
            </a:pPr>
            <a:r>
              <a:rPr lang="en-US" sz="1050" dirty="0">
                <a:solidFill>
                  <a:srgbClr val="333333"/>
                </a:solidFill>
                <a:latin typeface="Calibri" pitchFamily="34" charset="0"/>
                <a:ea typeface="Calibri" pitchFamily="34" charset="-122"/>
                <a:cs typeface="Calibri" pitchFamily="34" charset="-120"/>
              </a:rPr>
              <a:t>Every record has well-understood columns plus custom fields an administrator adds in the interface.</a:t>
            </a:r>
            <a:endParaRPr lang="en-US" sz="1050" dirty="0"/>
          </a:p>
        </p:txBody>
      </p:sp>
      <p:sp>
        <p:nvSpPr>
          <p:cNvPr id="9" name="Shape 7"/>
          <p:cNvSpPr/>
          <p:nvPr/>
        </p:nvSpPr>
        <p:spPr>
          <a:xfrm>
            <a:off x="3246120" y="1280160"/>
            <a:ext cx="2651760" cy="1508760"/>
          </a:xfrm>
          <a:prstGeom prst="roundRect">
            <a:avLst>
              <a:gd name="adj" fmla="val 4848"/>
            </a:avLst>
          </a:prstGeom>
          <a:solidFill>
            <a:srgbClr val="EEF2FA"/>
          </a:solidFill>
          <a:ln w="12700">
            <a:solidFill>
              <a:srgbClr val="EEF2FA"/>
            </a:solidFill>
            <a:prstDash val="solid"/>
          </a:ln>
          <a:effectLst>
            <a:outerShdw sx="100000" sy="100000" kx="0" ky="0" algn="bl" rotWithShape="0" blurRad="50800" dist="19050" dir="5400000">
              <a:srgbClr val="000000">
                <a:alpha val="12000"/>
              </a:srgbClr>
            </a:outerShdw>
          </a:effectLst>
        </p:spPr>
      </p:sp>
      <p:sp>
        <p:nvSpPr>
          <p:cNvPr id="10" name="Text 8"/>
          <p:cNvSpPr txBox="1"/>
          <p:nvPr/>
        </p:nvSpPr>
        <p:spPr>
          <a:xfrm>
            <a:off x="3383280" y="1371600"/>
            <a:ext cx="2377440" cy="50292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2. Configuration-driven rules</a:t>
            </a:r>
            <a:endParaRPr lang="en-US" sz="1250" dirty="0"/>
          </a:p>
        </p:txBody>
      </p:sp>
      <p:sp>
        <p:nvSpPr>
          <p:cNvPr id="11" name="Text 9"/>
          <p:cNvSpPr txBox="1"/>
          <p:nvPr/>
        </p:nvSpPr>
        <p:spPr>
          <a:xfrm>
            <a:off x="3383280" y="1901952"/>
            <a:ext cx="2377440" cy="795528"/>
          </a:xfrm>
          <a:prstGeom prst="rect">
            <a:avLst/>
          </a:prstGeom>
          <a:noFill/>
          <a:ln/>
        </p:spPr>
        <p:txBody>
          <a:bodyPr wrap="square" lIns="0" tIns="0" rIns="0" bIns="0" rtlCol="0" anchor="t"/>
          <a:lstStyle/>
          <a:p>
            <a:pPr indent="0" marL="0">
              <a:buNone/>
            </a:pPr>
            <a:r>
              <a:rPr lang="en-US" sz="1050" dirty="0">
                <a:solidFill>
                  <a:srgbClr val="333333"/>
                </a:solidFill>
                <a:latin typeface="Calibri" pitchFamily="34" charset="0"/>
                <a:ea typeface="Calibri" pitchFamily="34" charset="-122"/>
                <a:cs typeface="Calibri" pitchFamily="34" charset="-120"/>
              </a:rPr>
              <a:t>Categories, pipelines, stages, decision checklists, approval policies and routing are settings, not code.</a:t>
            </a:r>
            <a:endParaRPr lang="en-US" sz="1050" dirty="0"/>
          </a:p>
        </p:txBody>
      </p:sp>
      <p:sp>
        <p:nvSpPr>
          <p:cNvPr id="12" name="Shape 10"/>
          <p:cNvSpPr/>
          <p:nvPr/>
        </p:nvSpPr>
        <p:spPr>
          <a:xfrm>
            <a:off x="6035040" y="1280160"/>
            <a:ext cx="2651760" cy="1508760"/>
          </a:xfrm>
          <a:prstGeom prst="roundRect">
            <a:avLst>
              <a:gd name="adj" fmla="val 4848"/>
            </a:avLst>
          </a:prstGeom>
          <a:solidFill>
            <a:srgbClr val="F7F8FB"/>
          </a:solidFill>
          <a:ln w="12700">
            <a:solidFill>
              <a:srgbClr val="F7F8FB"/>
            </a:solidFill>
            <a:prstDash val="solid"/>
          </a:ln>
          <a:effectLst>
            <a:outerShdw sx="100000" sy="100000" kx="0" ky="0" algn="bl" rotWithShape="0" blurRad="50800" dist="19050" dir="5400000">
              <a:srgbClr val="000000">
                <a:alpha val="12000"/>
              </a:srgbClr>
            </a:outerShdw>
          </a:effectLst>
        </p:spPr>
      </p:sp>
      <p:sp>
        <p:nvSpPr>
          <p:cNvPr id="13" name="Text 11"/>
          <p:cNvSpPr txBox="1"/>
          <p:nvPr/>
        </p:nvSpPr>
        <p:spPr>
          <a:xfrm>
            <a:off x="6172200" y="1371600"/>
            <a:ext cx="2377440" cy="50292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3. Import templates with preview</a:t>
            </a:r>
            <a:endParaRPr lang="en-US" sz="1250" dirty="0"/>
          </a:p>
        </p:txBody>
      </p:sp>
      <p:sp>
        <p:nvSpPr>
          <p:cNvPr id="14" name="Text 12"/>
          <p:cNvSpPr txBox="1"/>
          <p:nvPr/>
        </p:nvSpPr>
        <p:spPr>
          <a:xfrm>
            <a:off x="6172200" y="1901952"/>
            <a:ext cx="2377440" cy="795528"/>
          </a:xfrm>
          <a:prstGeom prst="rect">
            <a:avLst/>
          </a:prstGeom>
          <a:noFill/>
          <a:ln/>
        </p:spPr>
        <p:txBody>
          <a:bodyPr wrap="square" lIns="0" tIns="0" rIns="0" bIns="0" rtlCol="0" anchor="t"/>
          <a:lstStyle/>
          <a:p>
            <a:pPr indent="0" marL="0">
              <a:buNone/>
            </a:pPr>
            <a:r>
              <a:rPr lang="en-US" sz="1050" dirty="0">
                <a:solidFill>
                  <a:srgbClr val="333333"/>
                </a:solidFill>
                <a:latin typeface="Calibri" pitchFamily="34" charset="0"/>
                <a:ea typeface="Calibri" pitchFamily="34" charset="-122"/>
                <a:cs typeface="Calibri" pitchFamily="34" charset="-120"/>
              </a:rPr>
              <a:t>CSV/XLSX for contacts, organisations, relationships, history; validation preview; re-import updates, never duplicates.</a:t>
            </a:r>
            <a:endParaRPr lang="en-US" sz="1050" dirty="0"/>
          </a:p>
        </p:txBody>
      </p:sp>
      <p:sp>
        <p:nvSpPr>
          <p:cNvPr id="15" name="Shape 13"/>
          <p:cNvSpPr/>
          <p:nvPr/>
        </p:nvSpPr>
        <p:spPr>
          <a:xfrm>
            <a:off x="457200" y="2926080"/>
            <a:ext cx="2651760" cy="1508760"/>
          </a:xfrm>
          <a:prstGeom prst="roundRect">
            <a:avLst>
              <a:gd name="adj" fmla="val 4848"/>
            </a:avLst>
          </a:prstGeom>
          <a:solidFill>
            <a:srgbClr val="EEF2FA"/>
          </a:solidFill>
          <a:ln w="12700">
            <a:solidFill>
              <a:srgbClr val="EEF2FA"/>
            </a:solidFill>
            <a:prstDash val="solid"/>
          </a:ln>
          <a:effectLst>
            <a:outerShdw sx="100000" sy="100000" kx="0" ky="0" algn="bl" rotWithShape="0" blurRad="50800" dist="19050" dir="5400000">
              <a:srgbClr val="000000">
                <a:alpha val="12000"/>
              </a:srgbClr>
            </a:outerShdw>
          </a:effectLst>
        </p:spPr>
      </p:sp>
      <p:sp>
        <p:nvSpPr>
          <p:cNvPr id="16" name="Text 14"/>
          <p:cNvSpPr txBox="1"/>
          <p:nvPr/>
        </p:nvSpPr>
        <p:spPr>
          <a:xfrm>
            <a:off x="594360" y="3017520"/>
            <a:ext cx="2377440" cy="50292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4. Connectors and API</a:t>
            </a:r>
            <a:endParaRPr lang="en-US" sz="1250" dirty="0"/>
          </a:p>
        </p:txBody>
      </p:sp>
      <p:sp>
        <p:nvSpPr>
          <p:cNvPr id="17" name="Text 15"/>
          <p:cNvSpPr txBox="1"/>
          <p:nvPr/>
        </p:nvSpPr>
        <p:spPr>
          <a:xfrm>
            <a:off x="594360" y="3547872"/>
            <a:ext cx="2377440" cy="795528"/>
          </a:xfrm>
          <a:prstGeom prst="rect">
            <a:avLst/>
          </a:prstGeom>
          <a:noFill/>
          <a:ln/>
        </p:spPr>
        <p:txBody>
          <a:bodyPr wrap="square" lIns="0" tIns="0" rIns="0" bIns="0" rtlCol="0" anchor="t"/>
          <a:lstStyle/>
          <a:p>
            <a:pPr indent="0" marL="0">
              <a:buNone/>
            </a:pPr>
            <a:r>
              <a:rPr lang="en-US" sz="1050" dirty="0">
                <a:solidFill>
                  <a:srgbClr val="333333"/>
                </a:solidFill>
                <a:latin typeface="Calibri" pitchFamily="34" charset="0"/>
                <a:ea typeface="Calibri" pitchFamily="34" charset="-122"/>
                <a:cs typeface="Calibri" pitchFamily="34" charset="-120"/>
              </a:rPr>
              <a:t>SharePoint/OneDrive, Google Drive, Microsoft 365 and Gmail mailboxes, WhatsApp Business; API and webhooks for ERP and existing CRM.</a:t>
            </a:r>
            <a:endParaRPr lang="en-US" sz="1050" dirty="0"/>
          </a:p>
        </p:txBody>
      </p:sp>
      <p:sp>
        <p:nvSpPr>
          <p:cNvPr id="18" name="Shape 16"/>
          <p:cNvSpPr/>
          <p:nvPr/>
        </p:nvSpPr>
        <p:spPr>
          <a:xfrm>
            <a:off x="3246120" y="2926080"/>
            <a:ext cx="2651760" cy="1508760"/>
          </a:xfrm>
          <a:prstGeom prst="roundRect">
            <a:avLst>
              <a:gd name="adj" fmla="val 4848"/>
            </a:avLst>
          </a:prstGeom>
          <a:solidFill>
            <a:srgbClr val="F7F8FB"/>
          </a:solidFill>
          <a:ln w="12700">
            <a:solidFill>
              <a:srgbClr val="F7F8FB"/>
            </a:solidFill>
            <a:prstDash val="solid"/>
          </a:ln>
          <a:effectLst>
            <a:outerShdw sx="100000" sy="100000" kx="0" ky="0" algn="bl" rotWithShape="0" blurRad="50800" dist="19050" dir="5400000">
              <a:srgbClr val="000000">
                <a:alpha val="12000"/>
              </a:srgbClr>
            </a:outerShdw>
          </a:effectLst>
        </p:spPr>
      </p:sp>
      <p:sp>
        <p:nvSpPr>
          <p:cNvPr id="19" name="Text 17"/>
          <p:cNvSpPr txBox="1"/>
          <p:nvPr/>
        </p:nvSpPr>
        <p:spPr>
          <a:xfrm>
            <a:off x="3383280" y="3017520"/>
            <a:ext cx="2377440" cy="50292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5. Demo data is removable</a:t>
            </a:r>
            <a:endParaRPr lang="en-US" sz="1250" dirty="0"/>
          </a:p>
        </p:txBody>
      </p:sp>
      <p:sp>
        <p:nvSpPr>
          <p:cNvPr id="20" name="Text 18"/>
          <p:cNvSpPr txBox="1"/>
          <p:nvPr/>
        </p:nvSpPr>
        <p:spPr>
          <a:xfrm>
            <a:off x="3383280" y="3547872"/>
            <a:ext cx="2377440" cy="795528"/>
          </a:xfrm>
          <a:prstGeom prst="rect">
            <a:avLst/>
          </a:prstGeom>
          <a:noFill/>
          <a:ln/>
        </p:spPr>
        <p:txBody>
          <a:bodyPr wrap="square" lIns="0" tIns="0" rIns="0" bIns="0" rtlCol="0" anchor="t"/>
          <a:lstStyle/>
          <a:p>
            <a:pPr indent="0" marL="0">
              <a:buNone/>
            </a:pPr>
            <a:r>
              <a:rPr lang="en-US" sz="1050" dirty="0">
                <a:solidFill>
                  <a:srgbClr val="333333"/>
                </a:solidFill>
                <a:latin typeface="Calibri" pitchFamily="34" charset="0"/>
                <a:ea typeface="Calibri" pitchFamily="34" charset="-122"/>
                <a:cs typeface="Calibri" pitchFamily="34" charset="-120"/>
              </a:rPr>
              <a:t>Every demo record is flagged; one administrative action removes it all and leaves configuration and users intact.</a:t>
            </a:r>
            <a:endParaRPr lang="en-US" sz="1050" dirty="0"/>
          </a:p>
        </p:txBody>
      </p:sp>
      <p:sp>
        <p:nvSpPr>
          <p:cNvPr id="21" name="Shape 19"/>
          <p:cNvSpPr/>
          <p:nvPr/>
        </p:nvSpPr>
        <p:spPr>
          <a:xfrm>
            <a:off x="3246120" y="2926080"/>
            <a:ext cx="5440680" cy="1508760"/>
          </a:xfrm>
          <a:prstGeom prst="roundRect">
            <a:avLst>
              <a:gd name="adj" fmla="val 4848"/>
            </a:avLst>
          </a:prstGeom>
          <a:solidFill>
            <a:srgbClr val="1E2761"/>
          </a:solidFill>
          <a:ln w="12700">
            <a:solidFill>
              <a:srgbClr val="1E2761"/>
            </a:solidFill>
            <a:prstDash val="solid"/>
          </a:ln>
        </p:spPr>
      </p:sp>
      <p:sp>
        <p:nvSpPr>
          <p:cNvPr id="22" name="Text 20"/>
          <p:cNvSpPr txBox="1"/>
          <p:nvPr/>
        </p:nvSpPr>
        <p:spPr>
          <a:xfrm>
            <a:off x="3429000" y="3017520"/>
            <a:ext cx="5074920" cy="132588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Onboarding sequence: data protection sign-off, configure, connect identity, import contacts, point connectors at one document library, review first findings with management, run the golden question set, connect the mailbox, switch on reminders, remove demo data.</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503920" y="4754880"/>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Calibri" pitchFamily="34" charset="0"/>
                <a:ea typeface="Calibri" pitchFamily="34" charset="-122"/>
                <a:cs typeface="Calibri" pitchFamily="34" charset="-120"/>
              </a:rPr>
              <a:t>14</a:t>
            </a:r>
            <a:endParaRPr lang="en-US" sz="900" dirty="0"/>
          </a:p>
        </p:txBody>
      </p:sp>
      <p:sp>
        <p:nvSpPr>
          <p:cNvPr id="3" name="Text 1"/>
          <p:cNvSpPr txBox="1"/>
          <p:nvPr/>
        </p:nvSpPr>
        <p:spPr>
          <a:xfrm>
            <a:off x="457200" y="4754880"/>
            <a:ext cx="4572000" cy="274320"/>
          </a:xfrm>
          <a:prstGeom prst="rect">
            <a:avLst/>
          </a:prstGeom>
          <a:noFill/>
          <a:ln/>
        </p:spPr>
        <p:txBody>
          <a:bodyPr wrap="square" lIns="0" tIns="0" rIns="0" bIns="0" rtlCol="0" anchor="ctr"/>
          <a:lstStyle/>
          <a:p>
            <a:pPr indent="0" marL="0">
              <a:buNone/>
            </a:pPr>
            <a:r>
              <a:rPr lang="en-US" sz="900" dirty="0">
                <a:solidFill>
                  <a:srgbClr val="5A6270"/>
                </a:solidFill>
                <a:latin typeface="Calibri" pitchFamily="34" charset="0"/>
                <a:ea typeface="Calibri" pitchFamily="34" charset="-122"/>
                <a:cs typeface="Calibri" pitchFamily="34" charset="-120"/>
              </a:rPr>
              <a:t>Confidential  |  First-meeting proposal</a:t>
            </a:r>
            <a:endParaRPr lang="en-US" sz="900" dirty="0"/>
          </a:p>
        </p:txBody>
      </p:sp>
      <p:sp>
        <p:nvSpPr>
          <p:cNvPr id="4"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Timeline: demo week 8-9, production week 20</a:t>
            </a:r>
            <a:endParaRPr lang="en-US" sz="2400" dirty="0"/>
          </a:p>
        </p:txBody>
      </p:sp>
      <p:sp>
        <p:nvSpPr>
          <p:cNvPr id="5" name="Text 3"/>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A6270"/>
                </a:solidFill>
                <a:latin typeface="Calibri" pitchFamily="34" charset="0"/>
                <a:ea typeface="Calibri" pitchFamily="34" charset="-122"/>
                <a:cs typeface="Calibri" pitchFamily="34" charset="-120"/>
              </a:rPr>
              <a:t>Working structure at week 6. Team of 3-4 plus part-time specialists; weekly client decisions; sample documents by end of week 1</a:t>
            </a:r>
            <a:endParaRPr lang="en-US" sz="1300" dirty="0"/>
          </a:p>
        </p:txBody>
      </p:sp>
      <p:pic>
        <p:nvPicPr>
          <p:cNvPr id="6" name="Image 0" descr="/home/user/CRM/proposal/diagrams/07_timeline.png">    </p:cNvPr>
          <p:cNvPicPr>
            <a:picLocks noChangeAspect="1"/>
          </p:cNvPicPr>
          <p:nvPr/>
        </p:nvPicPr>
        <p:blipFill>
          <a:blip r:embed="rId1"/>
          <a:srcRect l="0" r="0" t="0" b="0"/>
          <a:stretch/>
        </p:blipFill>
        <p:spPr>
          <a:xfrm>
            <a:off x="365760" y="1188720"/>
            <a:ext cx="8412480" cy="2743200"/>
          </a:xfrm>
          <a:prstGeom prst="rect">
            <a:avLst/>
          </a:prstGeom>
        </p:spPr>
      </p:pic>
      <p:sp>
        <p:nvSpPr>
          <p:cNvPr id="7" name="Text 4"/>
          <p:cNvSpPr txBox="1"/>
          <p:nvPr/>
        </p:nvSpPr>
        <p:spPr>
          <a:xfrm>
            <a:off x="457200" y="3977640"/>
            <a:ext cx="8229600" cy="73152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333333"/>
                </a:solidFill>
                <a:latin typeface="Calibri" pitchFamily="34" charset="0"/>
                <a:ea typeface="Calibri" pitchFamily="34" charset="-122"/>
                <a:cs typeface="Calibri" pitchFamily="34" charset="-120"/>
              </a:rPr>
              <a:t>Discovery fixes residency, identity, decision types and pipelines: the decisions that are expensive to change later</a:t>
            </a:r>
            <a:endParaRPr lang="en-US" sz="1050" dirty="0"/>
          </a:p>
          <a:p>
            <a:pPr marL="342900" indent="-342900">
              <a:spcAft>
                <a:spcPts val="600"/>
              </a:spcAft>
              <a:buSzPct val="100000"/>
              <a:buChar char="•"/>
            </a:pPr>
            <a:r>
              <a:rPr lang="en-US" sz="1050" dirty="0">
                <a:solidFill>
                  <a:srgbClr val="333333"/>
                </a:solidFill>
                <a:latin typeface="Calibri" pitchFamily="34" charset="0"/>
                <a:ea typeface="Calibri" pitchFamily="34" charset="-122"/>
                <a:cs typeface="Calibri" pitchFamily="34" charset="-120"/>
              </a:rPr>
              <a:t>Milestone reviews at weeks 2, 6, 9, 15 and 20 with written acceptance; go / no-go for the pilot at week 9; optional clickable prototype at week 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503920" y="4754880"/>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Calibri" pitchFamily="34" charset="0"/>
                <a:ea typeface="Calibri" pitchFamily="34" charset="-122"/>
                <a:cs typeface="Calibri" pitchFamily="34" charset="-120"/>
              </a:rPr>
              <a:t>15</a:t>
            </a:r>
            <a:endParaRPr lang="en-US" sz="900" dirty="0"/>
          </a:p>
        </p:txBody>
      </p:sp>
      <p:sp>
        <p:nvSpPr>
          <p:cNvPr id="3" name="Text 1"/>
          <p:cNvSpPr txBox="1"/>
          <p:nvPr/>
        </p:nvSpPr>
        <p:spPr>
          <a:xfrm>
            <a:off x="457200" y="4754880"/>
            <a:ext cx="4572000" cy="274320"/>
          </a:xfrm>
          <a:prstGeom prst="rect">
            <a:avLst/>
          </a:prstGeom>
          <a:noFill/>
          <a:ln/>
        </p:spPr>
        <p:txBody>
          <a:bodyPr wrap="square" lIns="0" tIns="0" rIns="0" bIns="0" rtlCol="0" anchor="ctr"/>
          <a:lstStyle/>
          <a:p>
            <a:pPr indent="0" marL="0">
              <a:buNone/>
            </a:pPr>
            <a:r>
              <a:rPr lang="en-US" sz="900" dirty="0">
                <a:solidFill>
                  <a:srgbClr val="5A6270"/>
                </a:solidFill>
                <a:latin typeface="Calibri" pitchFamily="34" charset="0"/>
                <a:ea typeface="Calibri" pitchFamily="34" charset="-122"/>
                <a:cs typeface="Calibri" pitchFamily="34" charset="-120"/>
              </a:rPr>
              <a:t>Confidential  |  First-meeting proposal</a:t>
            </a:r>
            <a:endParaRPr lang="en-US" sz="900" dirty="0"/>
          </a:p>
        </p:txBody>
      </p:sp>
      <p:sp>
        <p:nvSpPr>
          <p:cNvPr id="4"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From pilot to group-scale platform</a:t>
            </a:r>
            <a:endParaRPr lang="en-US" sz="2400" dirty="0"/>
          </a:p>
        </p:txBody>
      </p:sp>
      <p:sp>
        <p:nvSpPr>
          <p:cNvPr id="5" name="Text 3"/>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A6270"/>
                </a:solidFill>
                <a:latin typeface="Calibri" pitchFamily="34" charset="0"/>
                <a:ea typeface="Calibri" pitchFamily="34" charset="-122"/>
                <a:cs typeface="Calibri" pitchFamily="34" charset="-120"/>
              </a:rPr>
              <a:t>Same code base at every tier; what changes is hosting footprint, model deployment, connectors, support and compliance evidence</a:t>
            </a:r>
            <a:endParaRPr lang="en-US" sz="1300" dirty="0"/>
          </a:p>
        </p:txBody>
      </p:sp>
      <p:pic>
        <p:nvPicPr>
          <p:cNvPr id="6" name="Image 0" descr="/home/user/CRM/proposal/diagrams/06_scaling_ladder.png">    </p:cNvPr>
          <p:cNvPicPr>
            <a:picLocks noChangeAspect="1"/>
          </p:cNvPicPr>
          <p:nvPr/>
        </p:nvPicPr>
        <p:blipFill>
          <a:blip r:embed="rId1"/>
          <a:srcRect l="0" r="0" t="0" b="0"/>
          <a:stretch/>
        </p:blipFill>
        <p:spPr>
          <a:xfrm>
            <a:off x="457200" y="1188720"/>
            <a:ext cx="8229600" cy="34747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503920" y="4754880"/>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Calibri" pitchFamily="34" charset="0"/>
                <a:ea typeface="Calibri" pitchFamily="34" charset="-122"/>
                <a:cs typeface="Calibri" pitchFamily="34" charset="-120"/>
              </a:rPr>
              <a:t>16</a:t>
            </a:r>
            <a:endParaRPr lang="en-US" sz="900" dirty="0"/>
          </a:p>
        </p:txBody>
      </p:sp>
      <p:sp>
        <p:nvSpPr>
          <p:cNvPr id="3" name="Text 1"/>
          <p:cNvSpPr txBox="1"/>
          <p:nvPr/>
        </p:nvSpPr>
        <p:spPr>
          <a:xfrm>
            <a:off x="457200" y="4754880"/>
            <a:ext cx="4572000" cy="274320"/>
          </a:xfrm>
          <a:prstGeom prst="rect">
            <a:avLst/>
          </a:prstGeom>
          <a:noFill/>
          <a:ln/>
        </p:spPr>
        <p:txBody>
          <a:bodyPr wrap="square" lIns="0" tIns="0" rIns="0" bIns="0" rtlCol="0" anchor="ctr"/>
          <a:lstStyle/>
          <a:p>
            <a:pPr indent="0" marL="0">
              <a:buNone/>
            </a:pPr>
            <a:r>
              <a:rPr lang="en-US" sz="900" dirty="0">
                <a:solidFill>
                  <a:srgbClr val="5A6270"/>
                </a:solidFill>
                <a:latin typeface="Calibri" pitchFamily="34" charset="0"/>
                <a:ea typeface="Calibri" pitchFamily="34" charset="-122"/>
                <a:cs typeface="Calibri" pitchFamily="34" charset="-120"/>
              </a:rPr>
              <a:t>Confidential  |  First-meeting proposal</a:t>
            </a:r>
            <a:endParaRPr lang="en-US" sz="900" dirty="0"/>
          </a:p>
        </p:txBody>
      </p:sp>
      <p:sp>
        <p:nvSpPr>
          <p:cNvPr id="4"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Commercial model</a:t>
            </a:r>
            <a:endParaRPr lang="en-US" sz="2400" dirty="0"/>
          </a:p>
        </p:txBody>
      </p:sp>
      <p:sp>
        <p:nvSpPr>
          <p:cNvPr id="5" name="Text 3"/>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A6270"/>
                </a:solidFill>
                <a:latin typeface="Calibri" pitchFamily="34" charset="0"/>
                <a:ea typeface="Calibri" pitchFamily="34" charset="-122"/>
                <a:cs typeface="Calibri" pitchFamily="34" charset="-120"/>
              </a:rPr>
              <a:t>Fixed price where scope is known, milestones for the rest, a managed service after go-live, and you own everything</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394960" cy="914400"/>
        </p:xfrm>
        <a:graphic>
          <a:graphicData uri="http://schemas.openxmlformats.org/drawingml/2006/table">
            <a:tbl>
              <a:tblPr/>
              <a:tblGrid>
                <a:gridCol w="1737360"/>
                <a:gridCol w="2651760"/>
                <a:gridCol w="100584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Basis</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Timing</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E2761"/>
                    </a:solidFill>
                  </a:tcPr>
                </a:tc>
              </a:tr>
              <a:tr h="384048">
                <a:tc>
                  <a:txBody>
                    <a:bodyPr/>
                    <a:lstStyle/>
                    <a:p>
                      <a:pPr indent="0" marL="0">
                        <a:buNone/>
                      </a:pPr>
                      <a:r>
                        <a:rPr lang="en-US" sz="1100" dirty="0">
                          <a:solidFill>
                            <a:srgbClr val="333333"/>
                          </a:solidFill>
                          <a:latin typeface="Calibri" pitchFamily="34" charset="0"/>
                          <a:ea typeface="Calibri" pitchFamily="34" charset="-122"/>
                          <a:cs typeface="Calibri" pitchFamily="34" charset="-120"/>
                        </a:rPr>
                        <a:t>Phase 0 Discovery</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7F8FB"/>
                    </a:solidFill>
                  </a:tcPr>
                </a:tc>
                <a:tc>
                  <a:txBody>
                    <a:bodyPr/>
                    <a:lstStyle/>
                    <a:p>
                      <a:pPr indent="0" marL="0">
                        <a:buNone/>
                      </a:pPr>
                      <a:r>
                        <a:rPr lang="en-US" sz="1100" dirty="0">
                          <a:solidFill>
                            <a:srgbClr val="333333"/>
                          </a:solidFill>
                          <a:latin typeface="Calibri" pitchFamily="34" charset="0"/>
                          <a:ea typeface="Calibri" pitchFamily="34" charset="-122"/>
                          <a:cs typeface="Calibri" pitchFamily="34" charset="-120"/>
                        </a:rPr>
                        <a:t>Fixed fee</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7F8FB"/>
                    </a:solidFill>
                  </a:tcPr>
                </a:tc>
                <a:tc>
                  <a:txBody>
                    <a:bodyPr/>
                    <a:lstStyle/>
                    <a:p>
                      <a:pPr indent="0" marL="0">
                        <a:buNone/>
                      </a:pPr>
                      <a:r>
                        <a:rPr lang="en-US" sz="1100" dirty="0">
                          <a:solidFill>
                            <a:srgbClr val="333333"/>
                          </a:solidFill>
                          <a:latin typeface="Calibri" pitchFamily="34" charset="0"/>
                          <a:ea typeface="Calibri" pitchFamily="34" charset="-122"/>
                          <a:cs typeface="Calibri" pitchFamily="34" charset="-120"/>
                        </a:rPr>
                        <a:t>Weeks 0-2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7F8FB"/>
                    </a:solidFill>
                  </a:tcPr>
                </a:tc>
              </a:tr>
              <a:tr h="384048">
                <a:tc>
                  <a:txBody>
                    <a:bodyPr/>
                    <a:lstStyle/>
                    <a:p>
                      <a:pPr indent="0" marL="0">
                        <a:buNone/>
                      </a:pPr>
                      <a:r>
                        <a:rPr lang="en-US" sz="1100" dirty="0">
                          <a:solidFill>
                            <a:srgbClr val="333333"/>
                          </a:solidFill>
                          <a:latin typeface="Calibri" pitchFamily="34" charset="0"/>
                          <a:ea typeface="Calibri" pitchFamily="34" charset="-122"/>
                          <a:cs typeface="Calibri" pitchFamily="34" charset="-120"/>
                        </a:rPr>
                        <a:t>Phases 1-2 to integrated demo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indent="0" marL="0">
                        <a:buNone/>
                      </a:pPr>
                      <a:r>
                        <a:rPr lang="en-US" sz="1100" dirty="0">
                          <a:solidFill>
                            <a:srgbClr val="333333"/>
                          </a:solidFill>
                          <a:latin typeface="Calibri" pitchFamily="34" charset="0"/>
                          <a:ea typeface="Calibri" pitchFamily="34" charset="-122"/>
                          <a:cs typeface="Calibri" pitchFamily="34" charset="-120"/>
                        </a:rPr>
                        <a:t>Fixed fee, paid 40 / 30 / 30 on signature, week 6 and week 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indent="0" marL="0">
                        <a:buNone/>
                      </a:pPr>
                      <a:r>
                        <a:rPr lang="en-US" sz="1100" dirty="0">
                          <a:solidFill>
                            <a:srgbClr val="333333"/>
                          </a:solidFill>
                          <a:latin typeface="Calibri" pitchFamily="34" charset="0"/>
                          <a:ea typeface="Calibri" pitchFamily="34" charset="-122"/>
                          <a:cs typeface="Calibri" pitchFamily="34" charset="-120"/>
                        </a:rPr>
                        <a:t>Weeks 1-9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333333"/>
                          </a:solidFill>
                          <a:latin typeface="Calibri" pitchFamily="34" charset="0"/>
                          <a:ea typeface="Calibri" pitchFamily="34" charset="-122"/>
                          <a:cs typeface="Calibri" pitchFamily="34" charset="-120"/>
                        </a:rPr>
                        <a:t>Phase 3 Pilot on real data</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7F8FB"/>
                    </a:solidFill>
                  </a:tcPr>
                </a:tc>
                <a:tc>
                  <a:txBody>
                    <a:bodyPr/>
                    <a:lstStyle/>
                    <a:p>
                      <a:pPr indent="0" marL="0">
                        <a:buNone/>
                      </a:pPr>
                      <a:r>
                        <a:rPr lang="en-US" sz="1100" dirty="0">
                          <a:solidFill>
                            <a:srgbClr val="333333"/>
                          </a:solidFill>
                          <a:latin typeface="Calibri" pitchFamily="34" charset="0"/>
                          <a:ea typeface="Calibri" pitchFamily="34" charset="-122"/>
                          <a:cs typeface="Calibri" pitchFamily="34" charset="-120"/>
                        </a:rPr>
                        <a:t>Fixed fee for defined scope; rate card for additions</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7F8FB"/>
                    </a:solidFill>
                  </a:tcPr>
                </a:tc>
                <a:tc>
                  <a:txBody>
                    <a:bodyPr/>
                    <a:lstStyle/>
                    <a:p>
                      <a:pPr indent="0" marL="0">
                        <a:buNone/>
                      </a:pPr>
                      <a:r>
                        <a:rPr lang="en-US" sz="1100" dirty="0">
                          <a:solidFill>
                            <a:srgbClr val="333333"/>
                          </a:solidFill>
                          <a:latin typeface="Calibri" pitchFamily="34" charset="0"/>
                          <a:ea typeface="Calibri" pitchFamily="34" charset="-122"/>
                          <a:cs typeface="Calibri" pitchFamily="34" charset="-120"/>
                        </a:rPr>
                        <a:t>Weeks 9-15</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7F8FB"/>
                    </a:solidFill>
                  </a:tcPr>
                </a:tc>
              </a:tr>
              <a:tr h="384048">
                <a:tc>
                  <a:txBody>
                    <a:bodyPr/>
                    <a:lstStyle/>
                    <a:p>
                      <a:pPr indent="0" marL="0">
                        <a:buNone/>
                      </a:pPr>
                      <a:r>
                        <a:rPr lang="en-US" sz="1100" dirty="0">
                          <a:solidFill>
                            <a:srgbClr val="333333"/>
                          </a:solidFill>
                          <a:latin typeface="Calibri" pitchFamily="34" charset="0"/>
                          <a:ea typeface="Calibri" pitchFamily="34" charset="-122"/>
                          <a:cs typeface="Calibri" pitchFamily="34" charset="-120"/>
                        </a:rPr>
                        <a:t>Phase 4 Production go-live</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indent="0" marL="0">
                        <a:buNone/>
                      </a:pPr>
                      <a:r>
                        <a:rPr lang="en-US" sz="1100" dirty="0">
                          <a:solidFill>
                            <a:srgbClr val="333333"/>
                          </a:solidFill>
                          <a:latin typeface="Calibri" pitchFamily="34" charset="0"/>
                          <a:ea typeface="Calibri" pitchFamily="34" charset="-122"/>
                          <a:cs typeface="Calibri" pitchFamily="34" charset="-120"/>
                        </a:rPr>
                        <a:t>Fixed fee on acceptance</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indent="0" marL="0">
                        <a:buNone/>
                      </a:pPr>
                      <a:r>
                        <a:rPr lang="en-US" sz="1100" dirty="0">
                          <a:solidFill>
                            <a:srgbClr val="333333"/>
                          </a:solidFill>
                          <a:latin typeface="Calibri" pitchFamily="34" charset="0"/>
                          <a:ea typeface="Calibri" pitchFamily="34" charset="-122"/>
                          <a:cs typeface="Calibri" pitchFamily="34" charset="-120"/>
                        </a:rPr>
                        <a:t>Weeks 15-20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333333"/>
                          </a:solidFill>
                          <a:latin typeface="Calibri" pitchFamily="34" charset="0"/>
                          <a:ea typeface="Calibri" pitchFamily="34" charset="-122"/>
                          <a:cs typeface="Calibri" pitchFamily="34" charset="-120"/>
                        </a:rPr>
                        <a:t>Managed service</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7F8FB"/>
                    </a:solidFill>
                  </a:tcPr>
                </a:tc>
                <a:tc>
                  <a:txBody>
                    <a:bodyPr/>
                    <a:lstStyle/>
                    <a:p>
                      <a:pPr indent="0" marL="0">
                        <a:buNone/>
                      </a:pPr>
                      <a:r>
                        <a:rPr lang="en-US" sz="1100" dirty="0">
                          <a:solidFill>
                            <a:srgbClr val="333333"/>
                          </a:solidFill>
                          <a:latin typeface="Calibri" pitchFamily="34" charset="0"/>
                          <a:ea typeface="Calibri" pitchFamily="34" charset="-122"/>
                          <a:cs typeface="Calibri" pitchFamily="34" charset="-120"/>
                        </a:rPr>
                        <a:t>Annual platform fee plus support tier; cloud and AI usage passed through at cost from your accounts</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7F8FB"/>
                    </a:solidFill>
                  </a:tcPr>
                </a:tc>
                <a:tc>
                  <a:txBody>
                    <a:bodyPr/>
                    <a:lstStyle/>
                    <a:p>
                      <a:pPr indent="0" marL="0">
                        <a:buNone/>
                      </a:pPr>
                      <a:r>
                        <a:rPr lang="en-US" sz="1100" dirty="0">
                          <a:solidFill>
                            <a:srgbClr val="333333"/>
                          </a:solidFill>
                          <a:latin typeface="Calibri" pitchFamily="34" charset="0"/>
                          <a:ea typeface="Calibri" pitchFamily="34" charset="-122"/>
                          <a:cs typeface="Calibri" pitchFamily="34" charset="-120"/>
                        </a:rPr>
                        <a:t>From go-live</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7F8FB"/>
                    </a:solidFill>
                  </a:tcPr>
                </a:tc>
              </a:tr>
            </a:tbl>
          </a:graphicData>
        </a:graphic>
      </p:graphicFrame>
      <p:sp>
        <p:nvSpPr>
          <p:cNvPr id="7" name="Shape 4"/>
          <p:cNvSpPr/>
          <p:nvPr/>
        </p:nvSpPr>
        <p:spPr>
          <a:xfrm>
            <a:off x="6080760" y="1280160"/>
            <a:ext cx="2606040" cy="3291840"/>
          </a:xfrm>
          <a:prstGeom prst="roundRect">
            <a:avLst>
              <a:gd name="adj" fmla="val 2807"/>
            </a:avLst>
          </a:prstGeom>
          <a:solidFill>
            <a:srgbClr val="1E2761"/>
          </a:solidFill>
          <a:ln w="12700">
            <a:solidFill>
              <a:srgbClr val="1E2761"/>
            </a:solidFill>
            <a:prstDash val="solid"/>
          </a:ln>
        </p:spPr>
      </p:sp>
      <p:sp>
        <p:nvSpPr>
          <p:cNvPr id="8" name="Text 5"/>
          <p:cNvSpPr txBox="1"/>
          <p:nvPr/>
        </p:nvSpPr>
        <p:spPr>
          <a:xfrm>
            <a:off x="6263640" y="1417320"/>
            <a:ext cx="2286000" cy="365760"/>
          </a:xfrm>
          <a:prstGeom prst="rect">
            <a:avLst/>
          </a:prstGeom>
          <a:noFill/>
          <a:ln/>
        </p:spPr>
        <p:txBody>
          <a:bodyPr wrap="square" lIns="0" tIns="0" rIns="0" bIns="0" rtlCol="0" anchor="ctr"/>
          <a:lstStyle/>
          <a:p>
            <a:pPr indent="0" marL="0">
              <a:buNone/>
            </a:pPr>
            <a:r>
              <a:rPr lang="en-US" sz="1600" b="1" dirty="0">
                <a:solidFill>
                  <a:srgbClr val="C9A227"/>
                </a:solidFill>
                <a:latin typeface="Calibri" pitchFamily="34" charset="0"/>
                <a:ea typeface="Calibri" pitchFamily="34" charset="-122"/>
                <a:cs typeface="Calibri" pitchFamily="34" charset="-120"/>
              </a:rPr>
              <a:t>You own</a:t>
            </a:r>
            <a:endParaRPr lang="en-US" sz="1600" dirty="0"/>
          </a:p>
        </p:txBody>
      </p:sp>
      <p:sp>
        <p:nvSpPr>
          <p:cNvPr id="9" name="Text 6"/>
          <p:cNvSpPr txBox="1"/>
          <p:nvPr/>
        </p:nvSpPr>
        <p:spPr>
          <a:xfrm>
            <a:off x="6263640" y="1828800"/>
            <a:ext cx="2286000" cy="16459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All source code and configuration</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The cloud and AI provider accounts</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All data, exportable in standard formats</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The relationship with every vendor</a:t>
            </a:r>
            <a:endParaRPr lang="en-US" sz="1200" dirty="0"/>
          </a:p>
        </p:txBody>
      </p:sp>
      <p:sp>
        <p:nvSpPr>
          <p:cNvPr id="10" name="Text 7"/>
          <p:cNvSpPr txBox="1"/>
          <p:nvPr/>
        </p:nvSpPr>
        <p:spPr>
          <a:xfrm>
            <a:off x="6263640" y="3703320"/>
            <a:ext cx="2286000" cy="822960"/>
          </a:xfrm>
          <a:prstGeom prst="rect">
            <a:avLst/>
          </a:prstGeom>
          <a:noFill/>
          <a:ln/>
        </p:spPr>
        <p:txBody>
          <a:bodyPr wrap="square" lIns="0" tIns="0" rIns="0" bIns="0" rtlCol="0" anchor="t"/>
          <a:lstStyle/>
          <a:p>
            <a:pPr indent="0" marL="0">
              <a:buNone/>
            </a:pPr>
            <a:r>
              <a:rPr lang="en-US" sz="1000" dirty="0">
                <a:solidFill>
                  <a:srgbClr val="CADCFC"/>
                </a:solidFill>
                <a:latin typeface="Calibri" pitchFamily="34" charset="0"/>
                <a:ea typeface="Calibri" pitchFamily="34" charset="-122"/>
                <a:cs typeface="Calibri" pitchFamily="34" charset="-120"/>
              </a:rPr>
              <a:t>Fees are set from role effort and an agreed blended rate; every assumption is in the cost workbook we will walk through in the detailed session.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503920" y="4754880"/>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Calibri" pitchFamily="34" charset="0"/>
                <a:ea typeface="Calibri" pitchFamily="34" charset="-122"/>
                <a:cs typeface="Calibri" pitchFamily="34" charset="-120"/>
              </a:rPr>
              <a:t>17</a:t>
            </a:r>
            <a:endParaRPr lang="en-US" sz="900" dirty="0"/>
          </a:p>
        </p:txBody>
      </p:sp>
      <p:sp>
        <p:nvSpPr>
          <p:cNvPr id="3" name="Text 1"/>
          <p:cNvSpPr txBox="1"/>
          <p:nvPr/>
        </p:nvSpPr>
        <p:spPr>
          <a:xfrm>
            <a:off x="457200" y="4754880"/>
            <a:ext cx="4572000" cy="274320"/>
          </a:xfrm>
          <a:prstGeom prst="rect">
            <a:avLst/>
          </a:prstGeom>
          <a:noFill/>
          <a:ln/>
        </p:spPr>
        <p:txBody>
          <a:bodyPr wrap="square" lIns="0" tIns="0" rIns="0" bIns="0" rtlCol="0" anchor="ctr"/>
          <a:lstStyle/>
          <a:p>
            <a:pPr indent="0" marL="0">
              <a:buNone/>
            </a:pPr>
            <a:r>
              <a:rPr lang="en-US" sz="900" dirty="0">
                <a:solidFill>
                  <a:srgbClr val="5A6270"/>
                </a:solidFill>
                <a:latin typeface="Calibri" pitchFamily="34" charset="0"/>
                <a:ea typeface="Calibri" pitchFamily="34" charset="-122"/>
                <a:cs typeface="Calibri" pitchFamily="34" charset="-120"/>
              </a:rPr>
              <a:t>Confidential  |  First-meeting proposal</a:t>
            </a:r>
            <a:endParaRPr lang="en-US" sz="900" dirty="0"/>
          </a:p>
        </p:txBody>
      </p:sp>
      <p:sp>
        <p:nvSpPr>
          <p:cNvPr id="4"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What we need, and what the brief did not cover</a:t>
            </a:r>
            <a:endParaRPr lang="en-US" sz="2400" dirty="0"/>
          </a:p>
        </p:txBody>
      </p:sp>
      <p:sp>
        <p:nvSpPr>
          <p:cNvPr id="5" name="Text 3"/>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A6270"/>
                </a:solidFill>
                <a:latin typeface="Calibri" pitchFamily="34" charset="0"/>
                <a:ea typeface="Calibri" pitchFamily="34" charset="-122"/>
                <a:cs typeface="Calibri" pitchFamily="34" charset="-120"/>
              </a:rPr>
              <a:t>Decisions that make the project succeed, best taken in discovery</a:t>
            </a:r>
            <a:endParaRPr lang="en-US" sz="1300" dirty="0"/>
          </a:p>
        </p:txBody>
      </p:sp>
      <p:sp>
        <p:nvSpPr>
          <p:cNvPr id="6" name="Text 4"/>
          <p:cNvSpPr txBox="1"/>
          <p:nvPr/>
        </p:nvSpPr>
        <p:spPr>
          <a:xfrm>
            <a:off x="457200" y="1234440"/>
            <a:ext cx="3931920" cy="320040"/>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What we need to start</a:t>
            </a:r>
            <a:endParaRPr lang="en-US" sz="1400" dirty="0"/>
          </a:p>
        </p:txBody>
      </p:sp>
      <p:sp>
        <p:nvSpPr>
          <p:cNvPr id="7" name="Text 5"/>
          <p:cNvSpPr txBox="1"/>
          <p:nvPr/>
        </p:nvSpPr>
        <p:spPr>
          <a:xfrm>
            <a:off x="457200" y="1600200"/>
            <a:ext cx="3931920" cy="29260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333333"/>
                </a:solidFill>
                <a:latin typeface="Calibri" pitchFamily="34" charset="0"/>
                <a:ea typeface="Calibri" pitchFamily="34" charset="-122"/>
                <a:cs typeface="Calibri" pitchFamily="34" charset="-120"/>
              </a:rPr>
              <a:t>A named sponsor and a product owner who can decide weekly</a:t>
            </a:r>
            <a:endParaRPr lang="en-US" sz="1150" dirty="0"/>
          </a:p>
          <a:p>
            <a:pPr marL="342900" indent="-342900">
              <a:spcAft>
                <a:spcPts val="600"/>
              </a:spcAft>
              <a:buSzPct val="100000"/>
              <a:buChar char="•"/>
            </a:pPr>
            <a:r>
              <a:rPr lang="en-US" sz="1150" dirty="0">
                <a:solidFill>
                  <a:srgbClr val="333333"/>
                </a:solidFill>
                <a:latin typeface="Calibri" pitchFamily="34" charset="0"/>
                <a:ea typeface="Calibri" pitchFamily="34" charset="-122"/>
                <a:cs typeface="Calibri" pitchFamily="34" charset="-120"/>
              </a:rPr>
              <a:t>50-200 sample documents under NDA: mixed formats, both languages, some scanned</a:t>
            </a:r>
            <a:endParaRPr lang="en-US" sz="1150" dirty="0"/>
          </a:p>
          <a:p>
            <a:pPr marL="342900" indent="-342900">
              <a:spcAft>
                <a:spcPts val="600"/>
              </a:spcAft>
              <a:buSzPct val="100000"/>
              <a:buChar char="•"/>
            </a:pPr>
            <a:r>
              <a:rPr lang="en-US" sz="1150" dirty="0">
                <a:solidFill>
                  <a:srgbClr val="333333"/>
                </a:solidFill>
                <a:latin typeface="Calibri" pitchFamily="34" charset="0"/>
                <a:ea typeface="Calibri" pitchFamily="34" charset="-122"/>
                <a:cs typeface="Calibri" pitchFamily="34" charset="-120"/>
              </a:rPr>
              <a:t>The five to ten decisions management makes most often, and the evidence expected for each</a:t>
            </a:r>
            <a:endParaRPr lang="en-US" sz="1150" dirty="0"/>
          </a:p>
          <a:p>
            <a:pPr marL="342900" indent="-342900">
              <a:spcAft>
                <a:spcPts val="600"/>
              </a:spcAft>
              <a:buSzPct val="100000"/>
              <a:buChar char="•"/>
            </a:pPr>
            <a:r>
              <a:rPr lang="en-US" sz="1150" dirty="0">
                <a:solidFill>
                  <a:srgbClr val="333333"/>
                </a:solidFill>
                <a:latin typeface="Calibri" pitchFamily="34" charset="0"/>
                <a:ea typeface="Calibri" pitchFamily="34" charset="-122"/>
                <a:cs typeface="Calibri" pitchFamily="34" charset="-120"/>
              </a:rPr>
              <a:t>Jurisdiction, data classification rules and preferred cloud provider</a:t>
            </a:r>
            <a:endParaRPr lang="en-US" sz="1150" dirty="0"/>
          </a:p>
          <a:p>
            <a:pPr marL="342900" indent="-342900">
              <a:spcAft>
                <a:spcPts val="600"/>
              </a:spcAft>
              <a:buSzPct val="100000"/>
              <a:buChar char="•"/>
            </a:pPr>
            <a:r>
              <a:rPr lang="en-US" sz="1150" dirty="0">
                <a:solidFill>
                  <a:srgbClr val="333333"/>
                </a:solidFill>
                <a:latin typeface="Calibri" pitchFamily="34" charset="0"/>
                <a:ea typeface="Calibri" pitchFamily="34" charset="-122"/>
                <a:cs typeface="Calibri" pitchFamily="34" charset="-120"/>
              </a:rPr>
              <a:t>Identity provider and mailbox platform details</a:t>
            </a:r>
            <a:endParaRPr lang="en-US" sz="1150" dirty="0"/>
          </a:p>
        </p:txBody>
      </p:sp>
      <p:sp>
        <p:nvSpPr>
          <p:cNvPr id="8" name="Text 6"/>
          <p:cNvSpPr txBox="1"/>
          <p:nvPr/>
        </p:nvSpPr>
        <p:spPr>
          <a:xfrm>
            <a:off x="4754880" y="1234440"/>
            <a:ext cx="3931920" cy="320040"/>
          </a:xfrm>
          <a:prstGeom prst="rect">
            <a:avLst/>
          </a:prstGeom>
          <a:noFill/>
          <a:ln/>
        </p:spPr>
        <p:txBody>
          <a:bodyPr wrap="square" lIns="0" tIns="0" rIns="0" bIns="0"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Not in the brief: decide early</a:t>
            </a:r>
            <a:endParaRPr lang="en-US" sz="1400" dirty="0"/>
          </a:p>
        </p:txBody>
      </p:sp>
      <p:sp>
        <p:nvSpPr>
          <p:cNvPr id="9" name="Text 7"/>
          <p:cNvSpPr txBox="1"/>
          <p:nvPr/>
        </p:nvSpPr>
        <p:spPr>
          <a:xfrm>
            <a:off x="4754880" y="1600200"/>
            <a:ext cx="3931920" cy="29260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333333"/>
                </a:solidFill>
                <a:latin typeface="Calibri" pitchFamily="34" charset="0"/>
                <a:ea typeface="Calibri" pitchFamily="34" charset="-122"/>
                <a:cs typeface="Calibri" pitchFamily="34" charset="-120"/>
              </a:rPr>
              <a:t>Arabic-language documents and interface (we assume yes)</a:t>
            </a:r>
            <a:endParaRPr lang="en-US" sz="1150" dirty="0"/>
          </a:p>
          <a:p>
            <a:pPr marL="342900" indent="-342900">
              <a:spcAft>
                <a:spcPts val="600"/>
              </a:spcAft>
              <a:buSzPct val="100000"/>
              <a:buChar char="•"/>
            </a:pPr>
            <a:r>
              <a:rPr lang="en-US" sz="1150" dirty="0">
                <a:solidFill>
                  <a:srgbClr val="333333"/>
                </a:solidFill>
                <a:latin typeface="Calibri" pitchFamily="34" charset="0"/>
                <a:ea typeface="Calibri" pitchFamily="34" charset="-122"/>
                <a:cs typeface="Calibri" pitchFamily="34" charset="-120"/>
              </a:rPr>
              <a:t>Document version control: drafts vs finals</a:t>
            </a:r>
            <a:endParaRPr lang="en-US" sz="1150" dirty="0"/>
          </a:p>
          <a:p>
            <a:pPr marL="342900" indent="-342900">
              <a:spcAft>
                <a:spcPts val="600"/>
              </a:spcAft>
              <a:buSzPct val="100000"/>
              <a:buChar char="•"/>
            </a:pPr>
            <a:r>
              <a:rPr lang="en-US" sz="1150" dirty="0">
                <a:solidFill>
                  <a:srgbClr val="333333"/>
                </a:solidFill>
                <a:latin typeface="Calibri" pitchFamily="34" charset="0"/>
                <a:ea typeface="Calibri" pitchFamily="34" charset="-122"/>
                <a:cs typeface="Calibri" pitchFamily="34" charset="-120"/>
              </a:rPr>
              <a:t>Who adjudicates a flagged contradiction</a:t>
            </a:r>
            <a:endParaRPr lang="en-US" sz="1150" dirty="0"/>
          </a:p>
          <a:p>
            <a:pPr marL="342900" indent="-342900">
              <a:spcAft>
                <a:spcPts val="600"/>
              </a:spcAft>
              <a:buSzPct val="100000"/>
              <a:buChar char="•"/>
            </a:pPr>
            <a:r>
              <a:rPr lang="en-US" sz="1150" dirty="0">
                <a:solidFill>
                  <a:srgbClr val="333333"/>
                </a:solidFill>
                <a:latin typeface="Calibri" pitchFamily="34" charset="0"/>
                <a:ea typeface="Calibri" pitchFamily="34" charset="-122"/>
                <a:cs typeface="Calibri" pitchFamily="34" charset="-120"/>
              </a:rPr>
              <a:t>Consent and lawful basis for investor personal data under GCC data protection laws</a:t>
            </a:r>
            <a:endParaRPr lang="en-US" sz="1150" dirty="0"/>
          </a:p>
          <a:p>
            <a:pPr marL="342900" indent="-342900">
              <a:spcAft>
                <a:spcPts val="600"/>
              </a:spcAft>
              <a:buSzPct val="100000"/>
              <a:buChar char="•"/>
            </a:pPr>
            <a:r>
              <a:rPr lang="en-US" sz="1150" dirty="0">
                <a:solidFill>
                  <a:srgbClr val="333333"/>
                </a:solidFill>
                <a:latin typeface="Calibri" pitchFamily="34" charset="0"/>
                <a:ea typeface="Calibri" pitchFamily="34" charset="-122"/>
                <a:cs typeface="Calibri" pitchFamily="34" charset="-120"/>
              </a:rPr>
              <a:t>Integration with existing systems: ERP, document management, existing CRM</a:t>
            </a:r>
            <a:endParaRPr lang="en-US" sz="1150" dirty="0"/>
          </a:p>
          <a:p>
            <a:pPr marL="342900" indent="-342900">
              <a:spcAft>
                <a:spcPts val="600"/>
              </a:spcAft>
              <a:buSzPct val="100000"/>
              <a:buChar char="•"/>
            </a:pPr>
            <a:r>
              <a:rPr lang="en-US" sz="1150" dirty="0">
                <a:solidFill>
                  <a:srgbClr val="333333"/>
                </a:solidFill>
                <a:latin typeface="Calibri" pitchFamily="34" charset="0"/>
                <a:ea typeface="Calibri" pitchFamily="34" charset="-122"/>
                <a:cs typeface="Calibri" pitchFamily="34" charset="-120"/>
              </a:rPr>
              <a:t>Accuracy acceptance criteria; support and disaster-recovery expectations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548640"/>
            <a:ext cx="786384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Proposed next steps</a:t>
            </a:r>
            <a:endParaRPr lang="en-US" sz="3000" dirty="0"/>
          </a:p>
        </p:txBody>
      </p:sp>
      <p:sp>
        <p:nvSpPr>
          <p:cNvPr id="3" name="Shape 1"/>
          <p:cNvSpPr/>
          <p:nvPr/>
        </p:nvSpPr>
        <p:spPr>
          <a:xfrm>
            <a:off x="640080" y="1417320"/>
            <a:ext cx="384048" cy="384048"/>
          </a:xfrm>
          <a:prstGeom prst="ellipse">
            <a:avLst/>
          </a:prstGeom>
          <a:solidFill>
            <a:srgbClr val="C9A227"/>
          </a:solidFill>
          <a:ln w="12700">
            <a:solidFill>
              <a:srgbClr val="C9A227"/>
            </a:solidFill>
            <a:prstDash val="solid"/>
          </a:ln>
        </p:spPr>
      </p:sp>
      <p:sp>
        <p:nvSpPr>
          <p:cNvPr id="4" name="Text 2"/>
          <p:cNvSpPr txBox="1"/>
          <p:nvPr/>
        </p:nvSpPr>
        <p:spPr>
          <a:xfrm>
            <a:off x="640080" y="14173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txBox="1"/>
          <p:nvPr/>
        </p:nvSpPr>
        <p:spPr>
          <a:xfrm>
            <a:off x="1188720" y="1371600"/>
            <a:ext cx="7315200" cy="320040"/>
          </a:xfrm>
          <a:prstGeom prst="rect">
            <a:avLst/>
          </a:prstGeom>
          <a:noFill/>
          <a:ln/>
        </p:spPr>
        <p:txBody>
          <a:bodyPr wrap="square" lIns="0" tIns="0" rIns="0" bIns="0" rtlCol="0" anchor="ctr"/>
          <a:lstStyle/>
          <a:p>
            <a:pPr indent="0" marL="0">
              <a:buNone/>
            </a:pPr>
            <a:r>
              <a:rPr lang="en-US" sz="1600" b="1" dirty="0">
                <a:solidFill>
                  <a:srgbClr val="C9A227"/>
                </a:solidFill>
                <a:latin typeface="Calibri" pitchFamily="34" charset="0"/>
                <a:ea typeface="Calibri" pitchFamily="34" charset="-122"/>
                <a:cs typeface="Calibri" pitchFamily="34" charset="-120"/>
              </a:rPr>
              <a:t>This week</a:t>
            </a:r>
            <a:endParaRPr lang="en-US" sz="1600" dirty="0"/>
          </a:p>
        </p:txBody>
      </p:sp>
      <p:sp>
        <p:nvSpPr>
          <p:cNvPr id="6" name="Text 4"/>
          <p:cNvSpPr txBox="1"/>
          <p:nvPr/>
        </p:nvSpPr>
        <p:spPr>
          <a:xfrm>
            <a:off x="1188720" y="1700784"/>
            <a:ext cx="7315200" cy="548640"/>
          </a:xfrm>
          <a:prstGeom prst="rect">
            <a:avLst/>
          </a:prstGeom>
          <a:noFill/>
          <a:ln/>
        </p:spPr>
        <p:txBody>
          <a:bodyPr wrap="square" lIns="0" tIns="0" rIns="0" bIns="0" rtlCol="0" anchor="t"/>
          <a:lstStyle/>
          <a:p>
            <a:pPr indent="0" marL="0">
              <a:buNone/>
            </a:pPr>
            <a:r>
              <a:rPr lang="en-US" sz="1300" dirty="0">
                <a:solidFill>
                  <a:srgbClr val="E6EAF7"/>
                </a:solidFill>
                <a:latin typeface="Calibri" pitchFamily="34" charset="0"/>
                <a:ea typeface="Calibri" pitchFamily="34" charset="-122"/>
                <a:cs typeface="Calibri" pitchFamily="34" charset="-120"/>
              </a:rPr>
              <a:t>Mutual NDA; you name the sponsor and product owner; we send the full proposal pack.</a:t>
            </a:r>
            <a:endParaRPr lang="en-US" sz="1300" dirty="0"/>
          </a:p>
        </p:txBody>
      </p:sp>
      <p:sp>
        <p:nvSpPr>
          <p:cNvPr id="7" name="Shape 5"/>
          <p:cNvSpPr/>
          <p:nvPr/>
        </p:nvSpPr>
        <p:spPr>
          <a:xfrm>
            <a:off x="640080" y="2377440"/>
            <a:ext cx="384048" cy="384048"/>
          </a:xfrm>
          <a:prstGeom prst="ellipse">
            <a:avLst/>
          </a:prstGeom>
          <a:solidFill>
            <a:srgbClr val="C9A227"/>
          </a:solidFill>
          <a:ln w="12700">
            <a:solidFill>
              <a:srgbClr val="C9A227"/>
            </a:solidFill>
            <a:prstDash val="solid"/>
          </a:ln>
        </p:spPr>
      </p:sp>
      <p:sp>
        <p:nvSpPr>
          <p:cNvPr id="8" name="Text 6"/>
          <p:cNvSpPr txBox="1"/>
          <p:nvPr/>
        </p:nvSpPr>
        <p:spPr>
          <a:xfrm>
            <a:off x="640080" y="2377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188720" y="2331720"/>
            <a:ext cx="7315200" cy="320040"/>
          </a:xfrm>
          <a:prstGeom prst="rect">
            <a:avLst/>
          </a:prstGeom>
          <a:noFill/>
          <a:ln/>
        </p:spPr>
        <p:txBody>
          <a:bodyPr wrap="square" lIns="0" tIns="0" rIns="0" bIns="0" rtlCol="0" anchor="ctr"/>
          <a:lstStyle/>
          <a:p>
            <a:pPr indent="0" marL="0">
              <a:buNone/>
            </a:pPr>
            <a:r>
              <a:rPr lang="en-US" sz="1600" b="1" dirty="0">
                <a:solidFill>
                  <a:srgbClr val="C9A227"/>
                </a:solidFill>
                <a:latin typeface="Calibri" pitchFamily="34" charset="0"/>
                <a:ea typeface="Calibri" pitchFamily="34" charset="-122"/>
                <a:cs typeface="Calibri" pitchFamily="34" charset="-120"/>
              </a:rPr>
              <a:t>Within two weeks</a:t>
            </a:r>
            <a:endParaRPr lang="en-US" sz="1600" dirty="0"/>
          </a:p>
        </p:txBody>
      </p:sp>
      <p:sp>
        <p:nvSpPr>
          <p:cNvPr id="10" name="Text 8"/>
          <p:cNvSpPr txBox="1"/>
          <p:nvPr/>
        </p:nvSpPr>
        <p:spPr>
          <a:xfrm>
            <a:off x="1188720" y="2660904"/>
            <a:ext cx="7315200" cy="548640"/>
          </a:xfrm>
          <a:prstGeom prst="rect">
            <a:avLst/>
          </a:prstGeom>
          <a:noFill/>
          <a:ln/>
        </p:spPr>
        <p:txBody>
          <a:bodyPr wrap="square" lIns="0" tIns="0" rIns="0" bIns="0" rtlCol="0" anchor="t"/>
          <a:lstStyle/>
          <a:p>
            <a:pPr indent="0" marL="0">
              <a:buNone/>
            </a:pPr>
            <a:r>
              <a:rPr lang="en-US" sz="1300" dirty="0">
                <a:solidFill>
                  <a:srgbClr val="E6EAF7"/>
                </a:solidFill>
                <a:latin typeface="Calibri" pitchFamily="34" charset="0"/>
                <a:ea typeface="Calibri" pitchFamily="34" charset="-122"/>
                <a:cs typeface="Calibri" pitchFamily="34" charset="-120"/>
              </a:rPr>
              <a:t>Detailed session with our architect: design, security and residency deep-dive, commercial model walk-through, sample documents reviewed together.</a:t>
            </a:r>
            <a:endParaRPr lang="en-US" sz="1300" dirty="0"/>
          </a:p>
        </p:txBody>
      </p:sp>
      <p:sp>
        <p:nvSpPr>
          <p:cNvPr id="11" name="Shape 9"/>
          <p:cNvSpPr/>
          <p:nvPr/>
        </p:nvSpPr>
        <p:spPr>
          <a:xfrm>
            <a:off x="640080" y="3337560"/>
            <a:ext cx="384048" cy="384048"/>
          </a:xfrm>
          <a:prstGeom prst="ellipse">
            <a:avLst/>
          </a:prstGeom>
          <a:solidFill>
            <a:srgbClr val="C9A227"/>
          </a:solidFill>
          <a:ln w="12700">
            <a:solidFill>
              <a:srgbClr val="C9A227"/>
            </a:solidFill>
            <a:prstDash val="solid"/>
          </a:ln>
        </p:spPr>
      </p:sp>
      <p:sp>
        <p:nvSpPr>
          <p:cNvPr id="12" name="Text 10"/>
          <p:cNvSpPr txBox="1"/>
          <p:nvPr/>
        </p:nvSpPr>
        <p:spPr>
          <a:xfrm>
            <a:off x="640080" y="3337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188720" y="3291840"/>
            <a:ext cx="7315200" cy="320040"/>
          </a:xfrm>
          <a:prstGeom prst="rect">
            <a:avLst/>
          </a:prstGeom>
          <a:noFill/>
          <a:ln/>
        </p:spPr>
        <p:txBody>
          <a:bodyPr wrap="square" lIns="0" tIns="0" rIns="0" bIns="0" rtlCol="0" anchor="ctr"/>
          <a:lstStyle/>
          <a:p>
            <a:pPr indent="0" marL="0">
              <a:buNone/>
            </a:pPr>
            <a:r>
              <a:rPr lang="en-US" sz="1600" b="1" dirty="0">
                <a:solidFill>
                  <a:srgbClr val="C9A227"/>
                </a:solidFill>
                <a:latin typeface="Calibri" pitchFamily="34" charset="0"/>
                <a:ea typeface="Calibri" pitchFamily="34" charset="-122"/>
                <a:cs typeface="Calibri" pitchFamily="34" charset="-120"/>
              </a:rPr>
              <a:t>On agreement</a:t>
            </a:r>
            <a:endParaRPr lang="en-US" sz="1600" dirty="0"/>
          </a:p>
        </p:txBody>
      </p:sp>
      <p:sp>
        <p:nvSpPr>
          <p:cNvPr id="14" name="Text 12"/>
          <p:cNvSpPr txBox="1"/>
          <p:nvPr/>
        </p:nvSpPr>
        <p:spPr>
          <a:xfrm>
            <a:off x="1188720" y="3621024"/>
            <a:ext cx="7315200" cy="548640"/>
          </a:xfrm>
          <a:prstGeom prst="rect">
            <a:avLst/>
          </a:prstGeom>
          <a:noFill/>
          <a:ln/>
        </p:spPr>
        <p:txBody>
          <a:bodyPr wrap="square" lIns="0" tIns="0" rIns="0" bIns="0" rtlCol="0" anchor="t"/>
          <a:lstStyle/>
          <a:p>
            <a:pPr indent="0" marL="0">
              <a:buNone/>
            </a:pPr>
            <a:r>
              <a:rPr lang="en-US" sz="1300" dirty="0">
                <a:solidFill>
                  <a:srgbClr val="E6EAF7"/>
                </a:solidFill>
                <a:latin typeface="Calibri" pitchFamily="34" charset="0"/>
                <a:ea typeface="Calibri" pitchFamily="34" charset="-122"/>
                <a:cs typeface="Calibri" pitchFamily="34" charset="-120"/>
              </a:rPr>
              <a:t>Two-week discovery starts; environments created in your cloud account; golden question set built; working structure at week 6; integrated demo at week 8-9.</a:t>
            </a:r>
            <a:endParaRPr lang="en-US" sz="1300" dirty="0"/>
          </a:p>
        </p:txBody>
      </p:sp>
      <p:sp>
        <p:nvSpPr>
          <p:cNvPr id="15" name="Text 13"/>
          <p:cNvSpPr txBox="1"/>
          <p:nvPr/>
        </p:nvSpPr>
        <p:spPr>
          <a:xfrm>
            <a:off x="640080" y="4343400"/>
            <a:ext cx="731520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Thank you.</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Executive Intelligence Assistant and CRM + Follow-up System</dc:title>
  <dc:subject>PptxGenJS Presentation</dc:subject>
  <dc:creator>Proposal team</dc:creator>
  <cp:lastModifiedBy>Proposal team</cp:lastModifiedBy>
  <cp:revision>1</cp:revision>
  <dcterms:created xsi:type="dcterms:W3CDTF">2026-09-06T07:33:59Z</dcterms:created>
  <dcterms:modified xsi:type="dcterms:W3CDTF">2026-09-06T07:33:59Z</dcterms:modified>
</cp:coreProperties>
</file>